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96" r:id="rId4"/>
  </p:sldMasterIdLst>
  <p:notesMasterIdLst>
    <p:notesMasterId r:id="rId30"/>
  </p:notesMasterIdLst>
  <p:handoutMasterIdLst>
    <p:handoutMasterId r:id="rId31"/>
  </p:handoutMasterIdLst>
  <p:sldIdLst>
    <p:sldId id="501" r:id="rId5"/>
    <p:sldId id="506" r:id="rId6"/>
    <p:sldId id="509" r:id="rId7"/>
    <p:sldId id="507" r:id="rId8"/>
    <p:sldId id="508" r:id="rId9"/>
    <p:sldId id="513" r:id="rId10"/>
    <p:sldId id="531" r:id="rId11"/>
    <p:sldId id="514" r:id="rId12"/>
    <p:sldId id="524" r:id="rId13"/>
    <p:sldId id="523" r:id="rId14"/>
    <p:sldId id="515" r:id="rId15"/>
    <p:sldId id="525" r:id="rId16"/>
    <p:sldId id="528" r:id="rId17"/>
    <p:sldId id="522" r:id="rId18"/>
    <p:sldId id="516" r:id="rId19"/>
    <p:sldId id="526" r:id="rId20"/>
    <p:sldId id="527" r:id="rId21"/>
    <p:sldId id="261" r:id="rId22"/>
    <p:sldId id="529" r:id="rId23"/>
    <p:sldId id="517" r:id="rId24"/>
    <p:sldId id="518" r:id="rId25"/>
    <p:sldId id="530" r:id="rId26"/>
    <p:sldId id="520" r:id="rId27"/>
    <p:sldId id="521" r:id="rId28"/>
    <p:sldId id="505" r:id="rId29"/>
  </p:sldIdLst>
  <p:sldSz cx="12192000" cy="6858000"/>
  <p:notesSz cx="10048875" cy="6918325"/>
  <p:custDataLst>
    <p:tags r:id="rId3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D8A"/>
    <a:srgbClr val="FFFFCC"/>
    <a:srgbClr val="FF9900"/>
    <a:srgbClr val="99FF33"/>
    <a:srgbClr val="CC99FF"/>
    <a:srgbClr val="66CCFF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E1E80E-0FE3-475D-A5F3-0EF139CF1AA7}" v="14" dt="2025-08-11T11:44:07.918"/>
    <p1510:client id="{1E85662B-24ED-D657-CE9C-DC55B86F30F8}" v="17" dt="2025-08-10T13:46:20.637"/>
    <p1510:client id="{46E8BD53-0D10-4400-824F-F4D844E2F0CD}" v="627" dt="2025-08-11T11:46:03.549"/>
    <p1510:client id="{58FF24A9-0B33-8A60-2208-06291088F3D5}" v="40" dt="2025-08-11T06:30:10.697"/>
    <p1510:client id="{5B30E923-6251-279C-E02C-DE2559EE49E2}" v="248" dt="2025-08-11T11:12:20.987"/>
    <p1510:client id="{5CAA0038-B924-41D9-BBCF-D86A25A2281F}" v="4500" dt="2025-08-11T11:53:30.648"/>
    <p1510:client id="{6B07CEEE-4AC0-DA0C-064E-9B8AE13D4137}" v="2" dt="2025-08-11T05:18:10.897"/>
    <p1510:client id="{AE81124E-12C4-6AC5-EFE0-85DE7713C4A1}" v="11" dt="2025-08-11T06:51:38.803"/>
    <p1510:client id="{E0064B50-08AE-0770-9C5D-527134B781A5}" v="2" dt="2025-08-11T06:29:27.5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19" d="100"/>
          <a:sy n="119" d="100"/>
        </p:scale>
        <p:origin x="76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gs" Target="tags/tag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54512" cy="345917"/>
          </a:xfrm>
          <a:prstGeom prst="rect">
            <a:avLst/>
          </a:prstGeom>
        </p:spPr>
        <p:txBody>
          <a:bodyPr vert="horz" lIns="92766" tIns="46383" rIns="92766" bIns="46383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92038" y="0"/>
            <a:ext cx="4354512" cy="345917"/>
          </a:xfrm>
          <a:prstGeom prst="rect">
            <a:avLst/>
          </a:prstGeom>
        </p:spPr>
        <p:txBody>
          <a:bodyPr vert="horz" lIns="92766" tIns="46383" rIns="92766" bIns="46383" rtlCol="0"/>
          <a:lstStyle>
            <a:lvl1pPr algn="r">
              <a:defRPr sz="1200"/>
            </a:lvl1pPr>
          </a:lstStyle>
          <a:p>
            <a:fld id="{9175845F-7813-4162-8E43-89DCBF023BA5}" type="datetimeFigureOut">
              <a:rPr lang="de-DE" smtClean="0"/>
              <a:pPr/>
              <a:t>02.10.25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6571208"/>
            <a:ext cx="4354512" cy="345917"/>
          </a:xfrm>
          <a:prstGeom prst="rect">
            <a:avLst/>
          </a:prstGeom>
        </p:spPr>
        <p:txBody>
          <a:bodyPr vert="horz" lIns="92766" tIns="46383" rIns="92766" bIns="46383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92038" y="6571208"/>
            <a:ext cx="4354512" cy="345917"/>
          </a:xfrm>
          <a:prstGeom prst="rect">
            <a:avLst/>
          </a:prstGeom>
        </p:spPr>
        <p:txBody>
          <a:bodyPr vert="horz" lIns="92766" tIns="46383" rIns="92766" bIns="46383" rtlCol="0" anchor="b"/>
          <a:lstStyle>
            <a:lvl1pPr algn="r">
              <a:defRPr sz="1200"/>
            </a:lvl1pPr>
          </a:lstStyle>
          <a:p>
            <a:fld id="{568AD7C4-ADB3-4393-A709-E94E9DB0B9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07454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54512" cy="345917"/>
          </a:xfrm>
          <a:prstGeom prst="rect">
            <a:avLst/>
          </a:prstGeom>
        </p:spPr>
        <p:txBody>
          <a:bodyPr vert="horz" wrap="square" lIns="92766" tIns="46383" rIns="92766" bIns="4638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2038" y="0"/>
            <a:ext cx="4354512" cy="345917"/>
          </a:xfrm>
          <a:prstGeom prst="rect">
            <a:avLst/>
          </a:prstGeom>
        </p:spPr>
        <p:txBody>
          <a:bodyPr vert="horz" wrap="square" lIns="92766" tIns="46383" rIns="92766" bIns="4638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0A20AF34-6582-494F-851E-89D0463C3413}" type="datetimeFigureOut">
              <a:rPr lang="en-US"/>
              <a:pPr>
                <a:defRPr/>
              </a:pPr>
              <a:t>10/2/25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9388" y="519113"/>
            <a:ext cx="4610100" cy="2593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66" tIns="46383" rIns="92766" bIns="4638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4888" y="3286205"/>
            <a:ext cx="8039100" cy="3113247"/>
          </a:xfrm>
          <a:prstGeom prst="rect">
            <a:avLst/>
          </a:prstGeom>
        </p:spPr>
        <p:txBody>
          <a:bodyPr vert="horz" lIns="92766" tIns="46383" rIns="92766" bIns="4638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571208"/>
            <a:ext cx="4354512" cy="345917"/>
          </a:xfrm>
          <a:prstGeom prst="rect">
            <a:avLst/>
          </a:prstGeom>
        </p:spPr>
        <p:txBody>
          <a:bodyPr vert="horz" wrap="square" lIns="92766" tIns="46383" rIns="92766" bIns="4638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2038" y="6571208"/>
            <a:ext cx="4354512" cy="345917"/>
          </a:xfrm>
          <a:prstGeom prst="rect">
            <a:avLst/>
          </a:prstGeom>
        </p:spPr>
        <p:txBody>
          <a:bodyPr vert="horz" wrap="square" lIns="92766" tIns="46383" rIns="92766" bIns="4638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F1248D3D-B91D-4C0E-B577-B2CAAE2DB8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14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6096000"/>
            <a:ext cx="16256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D410-BB1B-47BE-81F8-FA61DEEC5942}" type="datetimeFigureOut">
              <a:rPr lang="en-US" smtClean="0"/>
              <a:pPr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Accellera Systems Initiative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820FFD-5868-4678-ACC2-C353669912D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43" y="6095476"/>
            <a:ext cx="1176058" cy="6821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1"/>
            <a:ext cx="10972800" cy="44958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D410-BB1B-47BE-81F8-FA61DEEC5942}" type="datetimeFigureOut">
              <a:rPr lang="en-US" smtClean="0"/>
              <a:pPr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35200" y="6356351"/>
            <a:ext cx="2946400" cy="365125"/>
          </a:xfrm>
        </p:spPr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BC9A6E-F594-49C2-B860-46C046B55A0A}" type="datetime1">
              <a:rPr lang="en-US" smtClean="0"/>
              <a:pPr>
                <a:defRPr/>
              </a:pPr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Accellera Systems Initiative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ED2C31-2823-4D5C-9492-C333022367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73DBD0-EF53-4770-BD75-2D2F0D6ECE2F}" type="datetime1">
              <a:rPr lang="en-US" smtClean="0"/>
              <a:pPr>
                <a:defRPr/>
              </a:pPr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Accellera Systems Initiative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77852F-9151-4853-BCAD-1A8F018BE5A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AFC4C6-4205-4748-A8A0-C1F8D089C381}" type="datetime1">
              <a:rPr lang="en-US" smtClean="0"/>
              <a:pPr>
                <a:defRPr/>
              </a:pPr>
              <a:t>10/2/25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Accellera Systems Initiative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C8F293-4BBC-458E-B2BD-F4405770B8C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1D31CF-E045-4E65-98EA-1CC49C1609F0}" type="datetime1">
              <a:rPr lang="en-US" smtClean="0"/>
              <a:pPr>
                <a:defRPr/>
              </a:pPr>
              <a:t>10/2/25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Accellera Systems Initiative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11CC12-8E9A-49BF-AC1E-0475F8BB5EF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Accellera Systems Initiative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B1C8EF-5791-4944-A3D7-8A1B488512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Accellera Systems Initiative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E4636B-F294-483D-938B-D9EE100D15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Accellera Systems Initiative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30D12D-C12F-4881-A45D-FFFF9E5E27A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A8AA75-262C-4581-B680-B40EED1AE53C}" type="datetime1">
              <a:rPr lang="en-US" smtClean="0"/>
              <a:pPr>
                <a:defRPr/>
              </a:pPr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US"/>
              <a:t>© Accellera Systems Initiative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41D75C-4BF4-4FD2-BDFD-6A8F3FBC2A3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69" y="6228949"/>
            <a:ext cx="945931" cy="54864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26400" y="6356351"/>
            <a:ext cx="142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6D410-BB1B-47BE-81F8-FA61DEEC5942}" type="datetimeFigureOut">
              <a:rPr lang="en-US" smtClean="0"/>
              <a:pPr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Accellera Systems Initiative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Picture 7" descr="A black and yellow logo&#10;&#10;Description automatically generated">
            <a:extLst>
              <a:ext uri="{FF2B5EF4-FFF2-40B4-BE49-F238E27FC236}">
                <a16:creationId xmlns:a16="http://schemas.microsoft.com/office/drawing/2014/main" id="{D450E576-3F04-4236-4875-ED9EF3CC3787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666" y="6126164"/>
            <a:ext cx="1081467" cy="64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4" r:id="rId7"/>
    <p:sldLayoutId id="2147483905" r:id="rId8"/>
    <p:sldLayoutId id="2147483906" r:id="rId9"/>
    <p:sldLayoutId id="2147483907" r:id="rId10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ualcomm.com/products/features/truewireless" TargetMode="External"/><Relationship Id="rId2" Type="http://schemas.openxmlformats.org/officeDocument/2006/relationships/hyperlink" Target="https://doi.org/10.1049/tje2.1229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embedded.com/case-study-optimizing-ppa-with-risc-v-custom-extensions-in-tws-earbuds/" TargetMode="External"/><Relationship Id="rId4" Type="http://schemas.openxmlformats.org/officeDocument/2006/relationships/hyperlink" Target="https://www.silergy.com/use/True+Wireless+Stereo+%28TWS%29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065125" y="1095446"/>
            <a:ext cx="10363200" cy="1470025"/>
          </a:xfrm>
        </p:spPr>
        <p:txBody>
          <a:bodyPr/>
          <a:lstStyle/>
          <a:p>
            <a:r>
              <a:rPr lang="en-IN"/>
              <a:t>Efficient Booth Multiplier for FIR Filter Structure</a:t>
            </a:r>
            <a:endParaRPr lang="en-US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245437" y="2468995"/>
            <a:ext cx="10182888" cy="234547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2800"/>
              <a:t>Jeet Gandhi</a:t>
            </a:r>
            <a:r>
              <a:rPr lang="en-IN" sz="2800" baseline="30000"/>
              <a:t>1</a:t>
            </a:r>
            <a:r>
              <a:rPr lang="en-IN" sz="2800"/>
              <a:t>, Deepak Nair</a:t>
            </a:r>
            <a:r>
              <a:rPr lang="en-IN" sz="2800" baseline="30000"/>
              <a:t>1</a:t>
            </a:r>
            <a:r>
              <a:rPr lang="en-IN" sz="2800"/>
              <a:t>, Nehal Shah</a:t>
            </a:r>
            <a:r>
              <a:rPr lang="en-IN" sz="2800" baseline="30000"/>
              <a:t>1</a:t>
            </a:r>
            <a:r>
              <a:rPr lang="en-IN" sz="2800"/>
              <a:t>, Niket Singla</a:t>
            </a:r>
            <a:r>
              <a:rPr lang="en-IN" sz="2800" baseline="30000"/>
              <a:t>2</a:t>
            </a:r>
            <a:endParaRPr lang="en-IN" sz="2800" baseline="30000">
              <a:ea typeface="Calibri"/>
              <a:cs typeface="Calibri"/>
            </a:endParaRPr>
          </a:p>
          <a:p>
            <a:r>
              <a:rPr lang="en-US" sz="2800" baseline="30000"/>
              <a:t>1</a:t>
            </a:r>
            <a:r>
              <a:rPr lang="en-US" sz="2800"/>
              <a:t>Department of Electronics &amp; Communication Engineering, </a:t>
            </a:r>
            <a:r>
              <a:rPr lang="en-US" sz="2800" err="1"/>
              <a:t>Sarvajanik</a:t>
            </a:r>
            <a:r>
              <a:rPr lang="en-US" sz="2800"/>
              <a:t> College of Engineering and Technology, Surat, India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baseline="30000"/>
              <a:t>2</a:t>
            </a:r>
            <a:r>
              <a:rPr lang="en-US" sz="2800"/>
              <a:t>Project Associate, C2S Project, Sardar Vallabhbhai National Institute of Technology, Surat</a:t>
            </a:r>
            <a:endParaRPr lang="en-IN" sz="2800">
              <a:ea typeface="Calibri"/>
              <a:cs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5D0F58-30FE-AF44-AE4D-CD3DAC512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127" y="4814467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07627-3779-6A81-B475-E39AB0BE3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34C5-68B6-F7DF-AC79-1A10EA91B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  <a:p>
            <a:r>
              <a:rPr lang="en-US"/>
              <a:t>Motivation</a:t>
            </a:r>
          </a:p>
          <a:p>
            <a:r>
              <a:rPr lang="en-US"/>
              <a:t>Multiplier</a:t>
            </a:r>
          </a:p>
          <a:p>
            <a:r>
              <a:rPr lang="en-US"/>
              <a:t>Adder</a:t>
            </a:r>
          </a:p>
          <a:p>
            <a:r>
              <a:rPr lang="en-US"/>
              <a:t>FIR Filter</a:t>
            </a:r>
          </a:p>
          <a:p>
            <a:r>
              <a:rPr lang="en-US"/>
              <a:t>Result and Discussion</a:t>
            </a:r>
          </a:p>
          <a:p>
            <a:r>
              <a:rPr lang="en-US"/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A2EB-85DF-71FB-6D27-3493B2DF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382C9-B9F0-884E-9404-5E4AB573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45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4531E-A4F2-8E4C-915C-951F9C47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A433C-B24C-2443-96A7-5DCF6205C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05" y="1251156"/>
            <a:ext cx="11188390" cy="4908550"/>
          </a:xfrm>
        </p:spPr>
        <p:txBody>
          <a:bodyPr>
            <a:normAutofit fontScale="850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300">
                <a:cs typeface="Times New Roman"/>
              </a:rPr>
              <a:t>Booth Multiplier is a circuit which is integrated with Adder and Delay Element to  form a filter to remove unwanted components or features from a signal.</a:t>
            </a:r>
          </a:p>
          <a:p>
            <a:pPr marL="0" indent="0" algn="just">
              <a:buNone/>
            </a:pPr>
            <a:endParaRPr lang="en-US" sz="3300">
              <a:cs typeface="Times New Roman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300">
                <a:cs typeface="Times New Roman"/>
              </a:rPr>
              <a:t>In the implementation of digital filters, multiplication and addition plays a vital role.</a:t>
            </a:r>
          </a:p>
          <a:p>
            <a:pPr algn="just"/>
            <a:endParaRPr lang="en-US" sz="3300">
              <a:cs typeface="Times New Roman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300">
                <a:cs typeface="Times New Roman"/>
              </a:rPr>
              <a:t>Both are used in all signal processing applications such as convolution, filtering, digital transformation etc.</a:t>
            </a:r>
          </a:p>
          <a:p>
            <a:pPr marL="0" indent="0" algn="just">
              <a:buNone/>
            </a:pPr>
            <a:endParaRPr lang="en-US" sz="3300">
              <a:cs typeface="Times New Roman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300">
                <a:cs typeface="Times New Roman"/>
              </a:rPr>
              <a:t>In some applications, higher levels of accuracy can be managed with an optimized result of digital filter output.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6CADB9-4B6F-8B47-9BD3-AE973589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40D97-1821-4243-9A37-EF3A9F63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2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B0E71-4621-124B-9A0E-629680CD0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2C7EB-0FC2-6441-9DFB-F716CD5F2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537" y="1271239"/>
            <a:ext cx="11731084" cy="48061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/>
              <a:t>VLSI IC design focuses on optimizing </a:t>
            </a:r>
            <a:r>
              <a:rPr lang="en-IN" b="1"/>
              <a:t>power, performance, and area (PPA)</a:t>
            </a:r>
            <a:r>
              <a:rPr lang="en-IN"/>
              <a:t>.</a:t>
            </a:r>
          </a:p>
          <a:p>
            <a:pPr algn="just">
              <a:lnSpc>
                <a:spcPct val="150000"/>
              </a:lnSpc>
            </a:pPr>
            <a:r>
              <a:rPr lang="en-IN"/>
              <a:t>Low-power, small-area circuits are essential for </a:t>
            </a:r>
            <a:r>
              <a:rPr lang="en-IN" b="1"/>
              <a:t>handheld, wearable, IoT, biomedical, industrial, and consumer devices</a:t>
            </a:r>
            <a:r>
              <a:rPr lang="en-IN"/>
              <a:t>.</a:t>
            </a:r>
          </a:p>
          <a:p>
            <a:pPr algn="just">
              <a:lnSpc>
                <a:spcPct val="150000"/>
              </a:lnSpc>
            </a:pPr>
            <a:r>
              <a:rPr lang="en-IN" b="1"/>
              <a:t>TWS chips</a:t>
            </a:r>
            <a:r>
              <a:rPr lang="en-IN"/>
              <a:t> (used in AirPods /earbuds) integrate Bluetooth RF transceivers with complex filters like FIR, LMS, and ANC.</a:t>
            </a:r>
          </a:p>
          <a:p>
            <a:pPr algn="just">
              <a:lnSpc>
                <a:spcPct val="150000"/>
              </a:lnSpc>
            </a:pPr>
            <a:r>
              <a:rPr lang="en-IN"/>
              <a:t>These functions require </a:t>
            </a:r>
            <a:r>
              <a:rPr lang="en-IN" b="1"/>
              <a:t>highly efficient computation blocks</a:t>
            </a:r>
            <a:r>
              <a:rPr lang="en-IN"/>
              <a:t> such as optimized multipliers and adders.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216F8E-8380-5245-AD9A-ED2DB1238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9BB69-351F-BB49-9205-CB78C0B5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9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6A14-431D-AD4F-A812-7CFC73183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Fundamentals of Booth’s Algorithm</a:t>
            </a:r>
            <a:endParaRPr lang="en-US" b="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9BF220-0072-B14E-834E-8CEB7C58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A20C0-A271-BF4C-A5EE-48D0A4F46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D7DD75B-CCB1-5ECA-2AA9-2AE85AAB60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173946"/>
            <a:ext cx="10972800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Efficient for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signed number multiplication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two’s complement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form.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Reduces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partial products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when the multiplier has consecutive 1s or 0s fewer additions.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/>
              <a:t>Key Components:</a:t>
            </a:r>
          </a:p>
          <a:p>
            <a:pPr marL="85725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b="1"/>
              <a:t>Shift Registers</a:t>
            </a:r>
            <a:r>
              <a:rPr lang="en-US" sz="2800"/>
              <a:t> – Store multiplier and accumulated result.</a:t>
            </a:r>
          </a:p>
          <a:p>
            <a:pPr marL="85725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b="1"/>
              <a:t>Adders/Subtractors</a:t>
            </a:r>
            <a:r>
              <a:rPr lang="en-US" sz="2800"/>
              <a:t> – Perform addition or subtraction of multiplicand based on bit-pair analysis.</a:t>
            </a:r>
          </a:p>
          <a:p>
            <a:pPr marL="85725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b="1"/>
              <a:t>Control Logic</a:t>
            </a:r>
            <a:r>
              <a:rPr lang="en-US" sz="2800"/>
              <a:t> – Decides when to add, subtract, or skip, using multiplier bits.</a:t>
            </a:r>
          </a:p>
          <a:p>
            <a:pPr marL="85725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b="1"/>
              <a:t>Sign Extension</a:t>
            </a:r>
            <a:r>
              <a:rPr lang="en-US" sz="2800"/>
              <a:t> – Ensures correct handling of negative numbers.</a:t>
            </a:r>
          </a:p>
          <a:p>
            <a:pPr marL="85725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42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37EBE-C7D5-D0E9-60E8-106B86893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Booth Multiplier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E3972-DAAC-94B8-62ED-CF5893CC5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</a:t>
            </a:r>
            <a:r>
              <a:rPr lang="en-US" err="1"/>
              <a:t>Accellera</a:t>
            </a:r>
            <a:r>
              <a:rPr lang="en-US"/>
              <a:t>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C54C3E-31F9-D68E-14B5-5DF38406B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D7BA988-855F-A94A-8395-C67D95962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674816"/>
              </p:ext>
            </p:extLst>
          </p:nvPr>
        </p:nvGraphicFramePr>
        <p:xfrm>
          <a:off x="609600" y="1291903"/>
          <a:ext cx="10972801" cy="376187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09368">
                  <a:extLst>
                    <a:ext uri="{9D8B030D-6E8A-4147-A177-3AD203B41FA5}">
                      <a16:colId xmlns:a16="http://schemas.microsoft.com/office/drawing/2014/main" val="4086436336"/>
                    </a:ext>
                  </a:extLst>
                </a:gridCol>
                <a:gridCol w="865238">
                  <a:extLst>
                    <a:ext uri="{9D8B030D-6E8A-4147-A177-3AD203B41FA5}">
                      <a16:colId xmlns:a16="http://schemas.microsoft.com/office/drawing/2014/main" val="536162935"/>
                    </a:ext>
                  </a:extLst>
                </a:gridCol>
                <a:gridCol w="2902286">
                  <a:extLst>
                    <a:ext uri="{9D8B030D-6E8A-4147-A177-3AD203B41FA5}">
                      <a16:colId xmlns:a16="http://schemas.microsoft.com/office/drawing/2014/main" val="2896092587"/>
                    </a:ext>
                  </a:extLst>
                </a:gridCol>
                <a:gridCol w="3006902">
                  <a:extLst>
                    <a:ext uri="{9D8B030D-6E8A-4147-A177-3AD203B41FA5}">
                      <a16:colId xmlns:a16="http://schemas.microsoft.com/office/drawing/2014/main" val="3754142541"/>
                    </a:ext>
                  </a:extLst>
                </a:gridCol>
                <a:gridCol w="1406644">
                  <a:extLst>
                    <a:ext uri="{9D8B030D-6E8A-4147-A177-3AD203B41FA5}">
                      <a16:colId xmlns:a16="http://schemas.microsoft.com/office/drawing/2014/main" val="3928766174"/>
                    </a:ext>
                  </a:extLst>
                </a:gridCol>
                <a:gridCol w="1582363">
                  <a:extLst>
                    <a:ext uri="{9D8B030D-6E8A-4147-A177-3AD203B41FA5}">
                      <a16:colId xmlns:a16="http://schemas.microsoft.com/office/drawing/2014/main" val="601088697"/>
                    </a:ext>
                  </a:extLst>
                </a:gridCol>
              </a:tblGrid>
              <a:tr h="1580824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Scheme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Group Width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Bit Selecting Pattern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Encoding bits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Partial Products,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N= multiplier bits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Operations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7062791"/>
                  </a:ext>
                </a:extLst>
              </a:tr>
              <a:tr h="702340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Radix-4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3 bits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[000, 001, … 110, 111] = 8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 / 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0, ±A, ±2A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2696910"/>
                  </a:ext>
                </a:extLst>
              </a:tr>
              <a:tr h="799290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Radix-8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4 bits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[0000, 0001, …, 1110, 1111] = 16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 / 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0, ±A, ±2A, ±3A, ±4A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7587973"/>
                  </a:ext>
                </a:extLst>
              </a:tr>
              <a:tr h="679424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Radix-16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5 bits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[00000, 00001, …, 11110, 11111] = 32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 / 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0 to ±8A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97778985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3D46F7A9-357E-6064-275A-90BF35DC8193}"/>
              </a:ext>
            </a:extLst>
          </p:cNvPr>
          <p:cNvGrpSpPr/>
          <p:nvPr/>
        </p:nvGrpSpPr>
        <p:grpSpPr>
          <a:xfrm>
            <a:off x="545939" y="2894749"/>
            <a:ext cx="7011347" cy="518403"/>
            <a:chOff x="2040309" y="5127982"/>
            <a:chExt cx="6938083" cy="60443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B1D1AE-D12F-BABE-E89B-CD45CCAFF9B4}"/>
                </a:ext>
              </a:extLst>
            </p:cNvPr>
            <p:cNvSpPr txBox="1"/>
            <p:nvPr/>
          </p:nvSpPr>
          <p:spPr>
            <a:xfrm>
              <a:off x="2040309" y="5225532"/>
              <a:ext cx="6938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A</a:t>
              </a:r>
              <a:r>
                <a:rPr lang="en-US" baseline="-25000"/>
                <a:t>7</a:t>
              </a:r>
              <a:r>
                <a:rPr lang="en-US"/>
                <a:t> A</a:t>
              </a:r>
              <a:r>
                <a:rPr lang="en-US" baseline="-25000"/>
                <a:t>6</a:t>
              </a:r>
              <a:r>
                <a:rPr lang="en-US"/>
                <a:t> A</a:t>
              </a:r>
              <a:r>
                <a:rPr lang="en-US" baseline="-25000"/>
                <a:t>5</a:t>
              </a:r>
              <a:r>
                <a:rPr lang="en-US"/>
                <a:t> A</a:t>
              </a:r>
              <a:r>
                <a:rPr lang="en-US" baseline="-25000"/>
                <a:t>4</a:t>
              </a:r>
              <a:r>
                <a:rPr lang="en-US"/>
                <a:t> A</a:t>
              </a:r>
              <a:r>
                <a:rPr lang="en-US" baseline="-25000"/>
                <a:t>3</a:t>
              </a:r>
              <a:r>
                <a:rPr lang="en-US"/>
                <a:t> A</a:t>
              </a:r>
              <a:r>
                <a:rPr lang="en-US" baseline="-25000"/>
                <a:t>2</a:t>
              </a:r>
              <a:r>
                <a:rPr lang="en-US"/>
                <a:t> A</a:t>
              </a:r>
              <a:r>
                <a:rPr lang="en-US" baseline="-25000"/>
                <a:t>1</a:t>
              </a:r>
              <a:r>
                <a:rPr lang="en-US"/>
                <a:t> A</a:t>
              </a:r>
              <a:r>
                <a:rPr lang="en-US" baseline="-25000"/>
                <a:t>0</a:t>
              </a:r>
              <a:r>
                <a:rPr lang="en-US"/>
                <a:t> 0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AD4EFD4-3CC8-64A3-F9E2-FC818E09576D}"/>
                </a:ext>
              </a:extLst>
            </p:cNvPr>
            <p:cNvGrpSpPr/>
            <p:nvPr/>
          </p:nvGrpSpPr>
          <p:grpSpPr>
            <a:xfrm>
              <a:off x="4221419" y="5127982"/>
              <a:ext cx="2552055" cy="604436"/>
              <a:chOff x="4221419" y="5127982"/>
              <a:chExt cx="2552055" cy="604436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09ABE49-4FE5-BC95-3D96-6AB8B6E276A3}"/>
                  </a:ext>
                </a:extLst>
              </p:cNvPr>
              <p:cNvSpPr/>
              <p:nvPr/>
            </p:nvSpPr>
            <p:spPr>
              <a:xfrm>
                <a:off x="5976429" y="5155014"/>
                <a:ext cx="797045" cy="577404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7E60E7D-0FCD-2239-9B92-4E8AD51AD943}"/>
                  </a:ext>
                </a:extLst>
              </p:cNvPr>
              <p:cNvSpPr/>
              <p:nvPr/>
            </p:nvSpPr>
            <p:spPr>
              <a:xfrm>
                <a:off x="5389244" y="5145172"/>
                <a:ext cx="883920" cy="577404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F5E042F-8B35-0BA2-AE51-25C0ACEBA1B0}"/>
                  </a:ext>
                </a:extLst>
              </p:cNvPr>
              <p:cNvSpPr/>
              <p:nvPr/>
            </p:nvSpPr>
            <p:spPr>
              <a:xfrm>
                <a:off x="4808605" y="5127982"/>
                <a:ext cx="904939" cy="60443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2F46676-FA66-3246-6249-50E22B049730}"/>
                  </a:ext>
                </a:extLst>
              </p:cNvPr>
              <p:cNvSpPr/>
              <p:nvPr/>
            </p:nvSpPr>
            <p:spPr>
              <a:xfrm>
                <a:off x="4221419" y="5165173"/>
                <a:ext cx="904940" cy="557403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1664C0-B1C4-74A5-B7BC-F73420EB9E24}"/>
              </a:ext>
            </a:extLst>
          </p:cNvPr>
          <p:cNvGrpSpPr/>
          <p:nvPr/>
        </p:nvGrpSpPr>
        <p:grpSpPr>
          <a:xfrm>
            <a:off x="750421" y="3645231"/>
            <a:ext cx="6656438" cy="612609"/>
            <a:chOff x="4519349" y="1485547"/>
            <a:chExt cx="6938083" cy="57716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71B82EE-B921-503D-AC4B-BF3AE5E61032}"/>
                </a:ext>
              </a:extLst>
            </p:cNvPr>
            <p:cNvSpPr txBox="1"/>
            <p:nvPr/>
          </p:nvSpPr>
          <p:spPr>
            <a:xfrm>
              <a:off x="4519349" y="1565672"/>
              <a:ext cx="6938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A</a:t>
              </a:r>
              <a:r>
                <a:rPr lang="en-US" baseline="-25000"/>
                <a:t>8 </a:t>
              </a:r>
              <a:r>
                <a:rPr lang="en-US"/>
                <a:t>A</a:t>
              </a:r>
              <a:r>
                <a:rPr lang="en-US" baseline="-25000"/>
                <a:t>7</a:t>
              </a:r>
              <a:r>
                <a:rPr lang="en-US"/>
                <a:t> A</a:t>
              </a:r>
              <a:r>
                <a:rPr lang="en-US" baseline="-25000"/>
                <a:t>6</a:t>
              </a:r>
              <a:r>
                <a:rPr lang="en-US"/>
                <a:t> A</a:t>
              </a:r>
              <a:r>
                <a:rPr lang="en-US" baseline="-25000"/>
                <a:t>5</a:t>
              </a:r>
              <a:r>
                <a:rPr lang="en-US"/>
                <a:t> A</a:t>
              </a:r>
              <a:r>
                <a:rPr lang="en-US" baseline="-25000"/>
                <a:t>4</a:t>
              </a:r>
              <a:r>
                <a:rPr lang="en-US"/>
                <a:t> A</a:t>
              </a:r>
              <a:r>
                <a:rPr lang="en-US" baseline="-25000"/>
                <a:t>3</a:t>
              </a:r>
              <a:r>
                <a:rPr lang="en-US"/>
                <a:t> A</a:t>
              </a:r>
              <a:r>
                <a:rPr lang="en-US" baseline="-25000"/>
                <a:t>2</a:t>
              </a:r>
              <a:r>
                <a:rPr lang="en-US"/>
                <a:t> A</a:t>
              </a:r>
              <a:r>
                <a:rPr lang="en-US" baseline="-25000"/>
                <a:t>1</a:t>
              </a:r>
              <a:r>
                <a:rPr lang="en-US"/>
                <a:t> A</a:t>
              </a:r>
              <a:r>
                <a:rPr lang="en-US" baseline="-25000"/>
                <a:t>0</a:t>
              </a:r>
              <a:r>
                <a:rPr lang="en-US"/>
                <a:t> 0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336FA63-251E-98B5-6288-CCBD3B9003F6}"/>
                </a:ext>
              </a:extLst>
            </p:cNvPr>
            <p:cNvGrpSpPr/>
            <p:nvPr/>
          </p:nvGrpSpPr>
          <p:grpSpPr>
            <a:xfrm>
              <a:off x="6558218" y="1485547"/>
              <a:ext cx="2892931" cy="577169"/>
              <a:chOff x="4079178" y="5145407"/>
              <a:chExt cx="2892931" cy="577169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F27E8CF-B4AD-9788-AFF8-4DCFC57E1ECE}"/>
                  </a:ext>
                </a:extLst>
              </p:cNvPr>
              <p:cNvSpPr/>
              <p:nvPr/>
            </p:nvSpPr>
            <p:spPr>
              <a:xfrm>
                <a:off x="5801360" y="5155014"/>
                <a:ext cx="1170749" cy="487126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7D2BD15-7E53-67A5-634A-C9D723060504}"/>
                  </a:ext>
                </a:extLst>
              </p:cNvPr>
              <p:cNvSpPr/>
              <p:nvPr/>
            </p:nvSpPr>
            <p:spPr>
              <a:xfrm>
                <a:off x="4968240" y="5175570"/>
                <a:ext cx="1170749" cy="547006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5560D39-07EF-DD5F-0BB3-BE0C27F28151}"/>
                  </a:ext>
                </a:extLst>
              </p:cNvPr>
              <p:cNvSpPr/>
              <p:nvPr/>
            </p:nvSpPr>
            <p:spPr>
              <a:xfrm>
                <a:off x="4079178" y="5145407"/>
                <a:ext cx="1170749" cy="547007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A3A7390-C136-ED66-6FFB-FDC120252BE4}"/>
              </a:ext>
            </a:extLst>
          </p:cNvPr>
          <p:cNvGrpSpPr/>
          <p:nvPr/>
        </p:nvGrpSpPr>
        <p:grpSpPr>
          <a:xfrm>
            <a:off x="609599" y="4388488"/>
            <a:ext cx="6938083" cy="612510"/>
            <a:chOff x="2040309" y="5132540"/>
            <a:chExt cx="6938083" cy="61251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E256106-A8C3-152E-5A37-38C4D353A7F1}"/>
                </a:ext>
              </a:extLst>
            </p:cNvPr>
            <p:cNvSpPr txBox="1"/>
            <p:nvPr/>
          </p:nvSpPr>
          <p:spPr>
            <a:xfrm>
              <a:off x="2040309" y="5225532"/>
              <a:ext cx="6938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A</a:t>
              </a:r>
              <a:r>
                <a:rPr lang="en-US" baseline="-25000"/>
                <a:t>7</a:t>
              </a:r>
              <a:r>
                <a:rPr lang="en-US"/>
                <a:t> A</a:t>
              </a:r>
              <a:r>
                <a:rPr lang="en-US" baseline="-25000"/>
                <a:t>6</a:t>
              </a:r>
              <a:r>
                <a:rPr lang="en-US"/>
                <a:t> A</a:t>
              </a:r>
              <a:r>
                <a:rPr lang="en-US" baseline="-25000"/>
                <a:t>5</a:t>
              </a:r>
              <a:r>
                <a:rPr lang="en-US"/>
                <a:t> A</a:t>
              </a:r>
              <a:r>
                <a:rPr lang="en-US" baseline="-25000"/>
                <a:t>4</a:t>
              </a:r>
              <a:r>
                <a:rPr lang="en-US"/>
                <a:t> A</a:t>
              </a:r>
              <a:r>
                <a:rPr lang="en-US" baseline="-25000"/>
                <a:t>3</a:t>
              </a:r>
              <a:r>
                <a:rPr lang="en-US"/>
                <a:t> A</a:t>
              </a:r>
              <a:r>
                <a:rPr lang="en-US" baseline="-25000"/>
                <a:t>2</a:t>
              </a:r>
              <a:r>
                <a:rPr lang="en-US"/>
                <a:t> A</a:t>
              </a:r>
              <a:r>
                <a:rPr lang="en-US" baseline="-25000"/>
                <a:t>1</a:t>
              </a:r>
              <a:r>
                <a:rPr lang="en-US"/>
                <a:t> A</a:t>
              </a:r>
              <a:r>
                <a:rPr lang="en-US" baseline="-25000"/>
                <a:t>0</a:t>
              </a:r>
              <a:r>
                <a:rPr lang="en-US"/>
                <a:t> 0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3FCCC3F-7607-DED2-AF1E-F76F6F155ADE}"/>
                </a:ext>
              </a:extLst>
            </p:cNvPr>
            <p:cNvGrpSpPr/>
            <p:nvPr/>
          </p:nvGrpSpPr>
          <p:grpSpPr>
            <a:xfrm>
              <a:off x="4262059" y="5132540"/>
              <a:ext cx="2598290" cy="612510"/>
              <a:chOff x="4262059" y="5132540"/>
              <a:chExt cx="2598290" cy="61251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1C0C940-4B1C-34F6-58A8-11A1825FE838}"/>
                  </a:ext>
                </a:extLst>
              </p:cNvPr>
              <p:cNvSpPr/>
              <p:nvPr/>
            </p:nvSpPr>
            <p:spPr>
              <a:xfrm>
                <a:off x="5403269" y="5155014"/>
                <a:ext cx="1457080" cy="567562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0B6978B-A51B-7491-2B54-9859562C2BA0}"/>
                  </a:ext>
                </a:extLst>
              </p:cNvPr>
              <p:cNvSpPr/>
              <p:nvPr/>
            </p:nvSpPr>
            <p:spPr>
              <a:xfrm>
                <a:off x="4262059" y="5132540"/>
                <a:ext cx="1457080" cy="612510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6204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5630D-0C48-361A-140B-23F9EF48C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Comparison of Multiplier [4], [5], [6]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B70FD-A6B9-F93D-3C20-20B2D1F7E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10282-2419-A768-FA4A-C44F3E161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408BB2-5C1A-27F2-ADAF-9210C8CAF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306824"/>
              </p:ext>
            </p:extLst>
          </p:nvPr>
        </p:nvGraphicFramePr>
        <p:xfrm>
          <a:off x="693558" y="1512144"/>
          <a:ext cx="10804883" cy="4036232"/>
        </p:xfrm>
        <a:graphic>
          <a:graphicData uri="http://schemas.openxmlformats.org/drawingml/2006/table">
            <a:tbl>
              <a:tblPr/>
              <a:tblGrid>
                <a:gridCol w="827227">
                  <a:extLst>
                    <a:ext uri="{9D8B030D-6E8A-4147-A177-3AD203B41FA5}">
                      <a16:colId xmlns:a16="http://schemas.microsoft.com/office/drawing/2014/main" val="2264310238"/>
                    </a:ext>
                  </a:extLst>
                </a:gridCol>
                <a:gridCol w="3306007">
                  <a:extLst>
                    <a:ext uri="{9D8B030D-6E8A-4147-A177-3AD203B41FA5}">
                      <a16:colId xmlns:a16="http://schemas.microsoft.com/office/drawing/2014/main" val="622249497"/>
                    </a:ext>
                  </a:extLst>
                </a:gridCol>
                <a:gridCol w="1290511">
                  <a:extLst>
                    <a:ext uri="{9D8B030D-6E8A-4147-A177-3AD203B41FA5}">
                      <a16:colId xmlns:a16="http://schemas.microsoft.com/office/drawing/2014/main" val="1994447542"/>
                    </a:ext>
                  </a:extLst>
                </a:gridCol>
                <a:gridCol w="3157255">
                  <a:extLst>
                    <a:ext uri="{9D8B030D-6E8A-4147-A177-3AD203B41FA5}">
                      <a16:colId xmlns:a16="http://schemas.microsoft.com/office/drawing/2014/main" val="2032141463"/>
                    </a:ext>
                  </a:extLst>
                </a:gridCol>
                <a:gridCol w="2223883">
                  <a:extLst>
                    <a:ext uri="{9D8B030D-6E8A-4147-A177-3AD203B41FA5}">
                      <a16:colId xmlns:a16="http://schemas.microsoft.com/office/drawing/2014/main" val="3820844934"/>
                    </a:ext>
                  </a:extLst>
                </a:gridCol>
              </a:tblGrid>
              <a:tr h="34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Radix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Core Idea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Sizes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Key Opt.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Gains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395229"/>
                  </a:ext>
                </a:extLst>
              </a:tr>
              <a:tr h="859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4</a:t>
                      </a:r>
                      <a:r>
                        <a:rPr lang="en-IN" sz="2200" b="1" baseline="30000"/>
                        <a:t>[4]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Inverter-based 2’s comp, redundant logic removal, signed compressors, opt. CLA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8-bit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Min. path delay PP gen, 2-XOR compressors, 13-bit CLA cascade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Delay↓, area↓, power↓, 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649329"/>
                  </a:ext>
                </a:extLst>
              </a:tr>
              <a:tr h="666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8</a:t>
                      </a:r>
                      <a:r>
                        <a:rPr lang="en-IN" sz="2200" b="1" baseline="30000"/>
                        <a:t>[5]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Precompute NT multiples (3×,5×,7×), 3-bit grouping, BEC-like PP reduce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8–64-bit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PP count↓ (~N/3), light BEC units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area↓, power↓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673755"/>
                  </a:ext>
                </a:extLst>
              </a:tr>
              <a:tr h="93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16</a:t>
                      </a:r>
                      <a:r>
                        <a:rPr lang="en-IN" sz="2200" b="1" baseline="30000"/>
                        <a:t>[6]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Smaller mux in PP gen (32→9→8), pipelined PP add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16, 32-bit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Mod. Booth encoding, zero-bit skip, 2–3 stage pipeline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Delay↓, power↓, FPGA use↓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173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0170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2A82-5948-7725-5EC2-29DEE9375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Conventional Booth Multiplier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E2253-2085-14C9-D183-A8A1C8F0E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31650A-9577-FA27-082F-59F75D373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972561F-CFFD-F25E-7149-CB9AEB1A0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836" y="1082999"/>
            <a:ext cx="7099924" cy="5185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CC22ED0-C423-3806-473C-4C0891A65A66}"/>
              </a:ext>
            </a:extLst>
          </p:cNvPr>
          <p:cNvSpPr/>
          <p:nvPr/>
        </p:nvSpPr>
        <p:spPr>
          <a:xfrm>
            <a:off x="7213600" y="1157899"/>
            <a:ext cx="4646811" cy="114299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000"/>
              <a:t>Partial product generation includes to generate partial product based on the booth encoding bits with multiplexer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6A12EF4-E89A-341A-AE63-6432F9F87A81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5181600" y="1270000"/>
            <a:ext cx="2032000" cy="45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16EE872-7F82-72D2-B950-825514B5243D}"/>
              </a:ext>
            </a:extLst>
          </p:cNvPr>
          <p:cNvSpPr/>
          <p:nvPr/>
        </p:nvSpPr>
        <p:spPr>
          <a:xfrm>
            <a:off x="8405508" y="4507905"/>
            <a:ext cx="2050068" cy="56083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/>
              <a:t>16-bit RTL Adder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412DC9-38E8-FD3A-5936-AAAE3DDD06FE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7691120" y="3768196"/>
            <a:ext cx="714388" cy="10201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F2BF223-9331-C7E6-C6B4-48A94DCC978D}"/>
              </a:ext>
            </a:extLst>
          </p:cNvPr>
          <p:cNvSpPr/>
          <p:nvPr/>
        </p:nvSpPr>
        <p:spPr>
          <a:xfrm>
            <a:off x="481439" y="3148584"/>
            <a:ext cx="2271593" cy="56083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/>
              <a:t>Booth encoding bits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8C4801-C73A-0D5F-AAEC-99CBC5DA2461}"/>
              </a:ext>
            </a:extLst>
          </p:cNvPr>
          <p:cNvCxnSpPr>
            <a:cxnSpLocks/>
          </p:cNvCxnSpPr>
          <p:nvPr/>
        </p:nvCxnSpPr>
        <p:spPr>
          <a:xfrm>
            <a:off x="2753032" y="3429000"/>
            <a:ext cx="1599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DD97579-F974-3E5A-602B-4AC875F15868}"/>
              </a:ext>
            </a:extLst>
          </p:cNvPr>
          <p:cNvSpPr/>
          <p:nvPr/>
        </p:nvSpPr>
        <p:spPr>
          <a:xfrm>
            <a:off x="7380474" y="5466361"/>
            <a:ext cx="2050068" cy="56083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/>
              <a:t>Shifting operation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4267C1-0EA0-1538-C976-3A1FA49E653F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5740400" y="5466361"/>
            <a:ext cx="1640074" cy="280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524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5FA4-6CC5-ABCA-51E4-589B83B6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Partial product generation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FBE33-C580-4128-270E-FA2023885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8784D-3A55-EC43-F77D-204CBB7F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DD0EF1-FBFB-22D6-A7D6-058CA8AF77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73"/>
          <a:stretch>
            <a:fillRect/>
          </a:stretch>
        </p:blipFill>
        <p:spPr>
          <a:xfrm>
            <a:off x="614773" y="1531624"/>
            <a:ext cx="10188356" cy="31704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69958EE-87AE-EEB1-16BE-97CB1B23CD7B}"/>
              </a:ext>
            </a:extLst>
          </p:cNvPr>
          <p:cNvSpPr/>
          <p:nvPr/>
        </p:nvSpPr>
        <p:spPr>
          <a:xfrm>
            <a:off x="1018327" y="2883658"/>
            <a:ext cx="4296321" cy="1405344"/>
          </a:xfrm>
          <a:prstGeom prst="rect">
            <a:avLst/>
          </a:prstGeom>
          <a:noFill/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1AE906-754E-191C-946C-CCFE4426082F}"/>
              </a:ext>
            </a:extLst>
          </p:cNvPr>
          <p:cNvSpPr/>
          <p:nvPr/>
        </p:nvSpPr>
        <p:spPr>
          <a:xfrm>
            <a:off x="858731" y="4892365"/>
            <a:ext cx="4283165" cy="64006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IN" sz="2000"/>
              <a:t>Binary to 2's Complement to create –Ve value</a:t>
            </a:r>
            <a:endParaRPr lang="en-US" sz="2000">
              <a:ea typeface="Calibri"/>
              <a:cs typeface="Calibri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CB99EB-699D-8118-339E-D0FAF093BB1F}"/>
              </a:ext>
            </a:extLst>
          </p:cNvPr>
          <p:cNvCxnSpPr>
            <a:cxnSpLocks/>
          </p:cNvCxnSpPr>
          <p:nvPr/>
        </p:nvCxnSpPr>
        <p:spPr>
          <a:xfrm flipV="1">
            <a:off x="3505200" y="4179150"/>
            <a:ext cx="462814" cy="71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A5B8EF-5F16-97A5-5552-051586B6C8AF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6350777" y="3937244"/>
            <a:ext cx="634018" cy="12907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BDA1DA5-90F3-6A56-BD95-BFBD7076C2E3}"/>
              </a:ext>
            </a:extLst>
          </p:cNvPr>
          <p:cNvSpPr/>
          <p:nvPr/>
        </p:nvSpPr>
        <p:spPr>
          <a:xfrm>
            <a:off x="5902959" y="5228026"/>
            <a:ext cx="2163671" cy="40659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IN" sz="2000"/>
              <a:t>Shifting operation</a:t>
            </a:r>
            <a:endParaRPr lang="en-US" sz="1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2C34C5-379F-3A56-C37B-D502CDE9FBA5}"/>
              </a:ext>
            </a:extLst>
          </p:cNvPr>
          <p:cNvSpPr/>
          <p:nvPr/>
        </p:nvSpPr>
        <p:spPr>
          <a:xfrm>
            <a:off x="8182480" y="5138099"/>
            <a:ext cx="3617926" cy="592141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IN" sz="2000"/>
              <a:t>Partial product selection through mux</a:t>
            </a:r>
            <a:endParaRPr lang="en-US" sz="160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191B503-811A-718E-33EB-810646EA8B5B}"/>
              </a:ext>
            </a:extLst>
          </p:cNvPr>
          <p:cNvCxnSpPr>
            <a:cxnSpLocks/>
          </p:cNvCxnSpPr>
          <p:nvPr/>
        </p:nvCxnSpPr>
        <p:spPr>
          <a:xfrm flipH="1" flipV="1">
            <a:off x="9975326" y="4217832"/>
            <a:ext cx="101681" cy="942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525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FB6D5-5089-4EA0-5CE8-5CB23A1AF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Why Bit Append Compared to Shift operation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FAE66-9766-2CB8-D3B0-3D940CBD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1E351-151D-13B0-0D47-3A9849480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CB28EA-D5D3-B042-9BAE-EC684CC48817}"/>
              </a:ext>
            </a:extLst>
          </p:cNvPr>
          <p:cNvGrpSpPr/>
          <p:nvPr/>
        </p:nvGrpSpPr>
        <p:grpSpPr>
          <a:xfrm>
            <a:off x="1299166" y="1778417"/>
            <a:ext cx="5833641" cy="1658073"/>
            <a:chOff x="3541853" y="1770927"/>
            <a:chExt cx="5833641" cy="165807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AA057F9-5943-8C0A-26F9-B1164697F583}"/>
                </a:ext>
              </a:extLst>
            </p:cNvPr>
            <p:cNvSpPr/>
            <p:nvPr/>
          </p:nvSpPr>
          <p:spPr>
            <a:xfrm>
              <a:off x="5181600" y="1770927"/>
              <a:ext cx="1566441" cy="1658073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IN" sz="2800" b="1">
                  <a:solidFill>
                    <a:schemeClr val="tx1"/>
                  </a:solidFill>
                </a:rPr>
                <a:t>&lt;&lt;&lt;</a:t>
              </a:r>
              <a:endParaRPr lang="en-IN" b="1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85E8028-A7FF-69E7-CF2C-C0348AD06FC4}"/>
                </a:ext>
              </a:extLst>
            </p:cNvPr>
            <p:cNvCxnSpPr>
              <a:cxnSpLocks/>
            </p:cNvCxnSpPr>
            <p:nvPr/>
          </p:nvCxnSpPr>
          <p:spPr>
            <a:xfrm>
              <a:off x="3634451" y="2599964"/>
              <a:ext cx="1547149" cy="43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9F6D0C9-D342-A1CD-8902-C4EEF179B209}"/>
                </a:ext>
              </a:extLst>
            </p:cNvPr>
            <p:cNvCxnSpPr>
              <a:cxnSpLocks/>
            </p:cNvCxnSpPr>
            <p:nvPr/>
          </p:nvCxnSpPr>
          <p:spPr>
            <a:xfrm>
              <a:off x="6748041" y="2593212"/>
              <a:ext cx="1547149" cy="434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D2A3F8-841F-0858-F83C-F3FAB820EA97}"/>
                </a:ext>
              </a:extLst>
            </p:cNvPr>
            <p:cNvSpPr txBox="1"/>
            <p:nvPr/>
          </p:nvSpPr>
          <p:spPr>
            <a:xfrm>
              <a:off x="3541853" y="2037144"/>
              <a:ext cx="937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>
                  <a:latin typeface="+mn-lt"/>
                </a:rPr>
                <a:t>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B5A289-CC0E-1EB2-4A80-4A114A55B401}"/>
                </a:ext>
              </a:extLst>
            </p:cNvPr>
            <p:cNvSpPr txBox="1"/>
            <p:nvPr/>
          </p:nvSpPr>
          <p:spPr>
            <a:xfrm>
              <a:off x="7675944" y="2039503"/>
              <a:ext cx="1699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>
                  <a:latin typeface="+mn-lt"/>
                </a:rPr>
                <a:t>shifted</a:t>
              </a:r>
            </a:p>
          </p:txBody>
        </p: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36E9E715-904B-50ED-FAD8-40C7407BF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313" y="1954503"/>
            <a:ext cx="3592232" cy="169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B982E9A-1FB4-21F2-FA7E-C670E81693EA}"/>
              </a:ext>
            </a:extLst>
          </p:cNvPr>
          <p:cNvSpPr/>
          <p:nvPr/>
        </p:nvSpPr>
        <p:spPr>
          <a:xfrm>
            <a:off x="914899" y="4329804"/>
            <a:ext cx="4774701" cy="104858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000"/>
              <a:t>RTL shift operator Increases hardware activity, uses </a:t>
            </a:r>
            <a:r>
              <a:rPr lang="en-US" sz="2000"/>
              <a:t>barrel shifter or shift logic, adds delay to execute.</a:t>
            </a:r>
            <a:endParaRPr lang="en-IN" sz="200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9C511E-01CD-EFCD-ABE0-7CFD2BC7776B}"/>
              </a:ext>
            </a:extLst>
          </p:cNvPr>
          <p:cNvCxnSpPr>
            <a:cxnSpLocks/>
          </p:cNvCxnSpPr>
          <p:nvPr/>
        </p:nvCxnSpPr>
        <p:spPr>
          <a:xfrm flipV="1">
            <a:off x="3359007" y="3429000"/>
            <a:ext cx="242084" cy="893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7590DE0-2BA9-914E-98B0-7EFD9DF4566B}"/>
              </a:ext>
            </a:extLst>
          </p:cNvPr>
          <p:cNvSpPr/>
          <p:nvPr/>
        </p:nvSpPr>
        <p:spPr>
          <a:xfrm>
            <a:off x="7289997" y="4312692"/>
            <a:ext cx="4529825" cy="104858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000"/>
              <a:t>Bit append adds a fixed 0 to the LSB without shift logic, eliminating extra logic and delay.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3BBE76-F055-DDE0-A46E-AE85411755D9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9554910" y="3138056"/>
            <a:ext cx="181373" cy="1174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694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21367-B726-E693-2EAC-C735C618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Proposed Booth Multiplier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0ADA4-E9F0-BC2B-6CF9-820CA82E5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54F63-E564-DB66-266E-013BDB92C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AD2430-28D9-0781-8E7D-13CF34E3C4A4}"/>
              </a:ext>
            </a:extLst>
          </p:cNvPr>
          <p:cNvSpPr/>
          <p:nvPr/>
        </p:nvSpPr>
        <p:spPr>
          <a:xfrm>
            <a:off x="4397844" y="1138254"/>
            <a:ext cx="6724141" cy="34800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000"/>
              <a:t>Centralized PPG for parallel precomputation of partial product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39265E-F07A-869F-5CD0-B493F6A83F59}"/>
              </a:ext>
            </a:extLst>
          </p:cNvPr>
          <p:cNvSpPr/>
          <p:nvPr/>
        </p:nvSpPr>
        <p:spPr>
          <a:xfrm>
            <a:off x="6817685" y="5293119"/>
            <a:ext cx="2783481" cy="56083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000"/>
              <a:t>Partial product selection through multiplexer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A5558A-E498-1DEA-B9FD-4E53E7E3F418}"/>
              </a:ext>
            </a:extLst>
          </p:cNvPr>
          <p:cNvSpPr/>
          <p:nvPr/>
        </p:nvSpPr>
        <p:spPr>
          <a:xfrm>
            <a:off x="520826" y="3198553"/>
            <a:ext cx="2900495" cy="97739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000"/>
              <a:t>Binary to 2’s complement for creating negative value of B multiplicand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84D2AE9-2733-E202-2527-A64B57E588AA}"/>
              </a:ext>
            </a:extLst>
          </p:cNvPr>
          <p:cNvCxnSpPr>
            <a:cxnSpLocks/>
          </p:cNvCxnSpPr>
          <p:nvPr/>
        </p:nvCxnSpPr>
        <p:spPr>
          <a:xfrm flipV="1">
            <a:off x="3421321" y="2387600"/>
            <a:ext cx="358199" cy="81095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54" name="Picture 6">
            <a:extLst>
              <a:ext uri="{FF2B5EF4-FFF2-40B4-BE49-F238E27FC236}">
                <a16:creationId xmlns:a16="http://schemas.microsoft.com/office/drawing/2014/main" id="{173808BD-D7C4-05BE-87B7-BB4A47CF0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105" y="1564881"/>
            <a:ext cx="6314190" cy="4583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BD6E73C-D77A-C1F3-46BC-DE961CEC02BC}"/>
              </a:ext>
            </a:extLst>
          </p:cNvPr>
          <p:cNvCxnSpPr>
            <a:cxnSpLocks/>
          </p:cNvCxnSpPr>
          <p:nvPr/>
        </p:nvCxnSpPr>
        <p:spPr>
          <a:xfrm flipH="1">
            <a:off x="4653023" y="1496263"/>
            <a:ext cx="347240" cy="309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C0C05F-2E07-A72A-AFC9-CE92524C78B1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943600" y="5573535"/>
            <a:ext cx="8740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768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AB695-668A-DA26-725B-4DCB40EF3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Centralized partial product generation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72DA9-FBD8-BF65-5FF4-8DB89DDAD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1B953-6843-20D7-E357-684426CC2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8D114D-600E-1649-8ADC-DF53753726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6"/>
          <a:stretch/>
        </p:blipFill>
        <p:spPr>
          <a:xfrm>
            <a:off x="3918722" y="1417638"/>
            <a:ext cx="6012240" cy="39686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56DBC6-D914-2285-1D55-DDDE58BAE5A8}"/>
              </a:ext>
            </a:extLst>
          </p:cNvPr>
          <p:cNvSpPr/>
          <p:nvPr/>
        </p:nvSpPr>
        <p:spPr>
          <a:xfrm>
            <a:off x="4216169" y="4348480"/>
            <a:ext cx="2358737" cy="632229"/>
          </a:xfrm>
          <a:prstGeom prst="rect">
            <a:avLst/>
          </a:prstGeom>
          <a:noFill/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5565CD-2C47-0E34-D4D6-8F0DDBE2D48A}"/>
              </a:ext>
            </a:extLst>
          </p:cNvPr>
          <p:cNvSpPr/>
          <p:nvPr/>
        </p:nvSpPr>
        <p:spPr>
          <a:xfrm>
            <a:off x="1831687" y="5527964"/>
            <a:ext cx="3452090" cy="43353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IN" sz="2400"/>
              <a:t>Binary to 2's Complement</a:t>
            </a:r>
            <a:endParaRPr lang="en-US" sz="2400">
              <a:ea typeface="Calibri"/>
              <a:cs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6505B2-0809-4B62-0F54-7D13EBC6E102}"/>
              </a:ext>
            </a:extLst>
          </p:cNvPr>
          <p:cNvCxnSpPr>
            <a:cxnSpLocks/>
          </p:cNvCxnSpPr>
          <p:nvPr/>
        </p:nvCxnSpPr>
        <p:spPr>
          <a:xfrm flipV="1">
            <a:off x="3655351" y="5018809"/>
            <a:ext cx="636094" cy="509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79BCAA7-9A8B-3C2A-87F7-206B55DD4408}"/>
              </a:ext>
            </a:extLst>
          </p:cNvPr>
          <p:cNvSpPr/>
          <p:nvPr/>
        </p:nvSpPr>
        <p:spPr>
          <a:xfrm>
            <a:off x="256310" y="1684871"/>
            <a:ext cx="3452090" cy="144440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IN" sz="2200"/>
              <a:t>All partial product (±1A to ±8A for radix 16) generated using RTL adder and shift by bit append method.</a:t>
            </a:r>
            <a:endParaRPr lang="en-US" sz="2200">
              <a:ea typeface="Calibri"/>
              <a:cs typeface="Calibri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C8315F-F9BB-1C54-99D0-3A9CFEABEDFA}"/>
              </a:ext>
            </a:extLst>
          </p:cNvPr>
          <p:cNvCxnSpPr>
            <a:cxnSpLocks/>
          </p:cNvCxnSpPr>
          <p:nvPr/>
        </p:nvCxnSpPr>
        <p:spPr>
          <a:xfrm>
            <a:off x="3718329" y="2700295"/>
            <a:ext cx="2723111" cy="164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64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648D0-6FDB-3C19-CF02-CA1A7097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Comparison of adders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3D281F-F0AA-DCA8-01ED-1FA8D634C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040C3-D53D-2915-B0D1-747C2C481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2ADE4F-C6DF-8A32-8376-AD8A7F94F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053380"/>
              </p:ext>
            </p:extLst>
          </p:nvPr>
        </p:nvGraphicFramePr>
        <p:xfrm>
          <a:off x="609600" y="1760061"/>
          <a:ext cx="10972800" cy="3718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712106066"/>
                    </a:ext>
                  </a:extLst>
                </a:gridCol>
                <a:gridCol w="2123440">
                  <a:extLst>
                    <a:ext uri="{9D8B030D-6E8A-4147-A177-3AD203B41FA5}">
                      <a16:colId xmlns:a16="http://schemas.microsoft.com/office/drawing/2014/main" val="2858356318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2169458876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312560747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33351090"/>
                    </a:ext>
                  </a:extLst>
                </a:gridCol>
                <a:gridCol w="2712720">
                  <a:extLst>
                    <a:ext uri="{9D8B030D-6E8A-4147-A177-3AD203B41FA5}">
                      <a16:colId xmlns:a16="http://schemas.microsoft.com/office/drawing/2014/main" val="3268799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Adder Type</a:t>
                      </a:r>
                      <a:endParaRPr lang="en-IN" sz="200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Speed</a:t>
                      </a:r>
                      <a:endParaRPr lang="en-IN" sz="200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Area</a:t>
                      </a:r>
                      <a:endParaRPr lang="en-IN" sz="200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Power</a:t>
                      </a:r>
                      <a:endParaRPr lang="en-IN" sz="200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Complexity</a:t>
                      </a:r>
                      <a:endParaRPr lang="en-IN" sz="200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Remarks</a:t>
                      </a:r>
                      <a:endParaRPr lang="en-IN" sz="200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137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Ripple Carry Adder (RCA)</a:t>
                      </a:r>
                      <a:endParaRPr lang="en-IN" sz="200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Slow (carry propagates sequentially)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Very 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Simple, area-efficient; not suitable for high-speed designs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9626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Carry Look-Ahead Adder (CLA)</a:t>
                      </a:r>
                      <a:endParaRPr lang="en-IN" sz="200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Fast (parallel carry computation)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Moderate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Good for high-performance; trade-off in area/power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9091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Carry Select Adder (CSLA)</a:t>
                      </a:r>
                      <a:endParaRPr lang="en-IN" sz="200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Faster than RCA, slower than CLA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Higher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Precomputes results for carry-in=0 &amp; 1; uses multiplexers; higher area.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9846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445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7B147-4938-BE4D-A693-D7A38A75F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Adder Results of Xilinx </a:t>
            </a:r>
            <a:r>
              <a:rPr lang="en-US" b="1" err="1"/>
              <a:t>Vivado</a:t>
            </a:r>
            <a:endParaRPr lang="en-US" b="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317FF2-44F6-E046-9557-D2C326C3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7C801E-7ACC-7D49-8BA4-232BD2382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176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27DEA7FC-49F7-86BE-A575-49702EA7F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04" y="1763386"/>
            <a:ext cx="6697732" cy="3096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C6FAA89-EB17-A842-95B1-A6698EEE6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631290"/>
              </p:ext>
            </p:extLst>
          </p:nvPr>
        </p:nvGraphicFramePr>
        <p:xfrm>
          <a:off x="7553739" y="1763385"/>
          <a:ext cx="4352708" cy="3096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2887">
                  <a:extLst>
                    <a:ext uri="{9D8B030D-6E8A-4147-A177-3AD203B41FA5}">
                      <a16:colId xmlns:a16="http://schemas.microsoft.com/office/drawing/2014/main" val="1438445067"/>
                    </a:ext>
                  </a:extLst>
                </a:gridCol>
                <a:gridCol w="870789">
                  <a:extLst>
                    <a:ext uri="{9D8B030D-6E8A-4147-A177-3AD203B41FA5}">
                      <a16:colId xmlns:a16="http://schemas.microsoft.com/office/drawing/2014/main" val="4135867204"/>
                    </a:ext>
                  </a:extLst>
                </a:gridCol>
                <a:gridCol w="812024">
                  <a:extLst>
                    <a:ext uri="{9D8B030D-6E8A-4147-A177-3AD203B41FA5}">
                      <a16:colId xmlns:a16="http://schemas.microsoft.com/office/drawing/2014/main" val="4161521726"/>
                    </a:ext>
                  </a:extLst>
                </a:gridCol>
                <a:gridCol w="847008">
                  <a:extLst>
                    <a:ext uri="{9D8B030D-6E8A-4147-A177-3AD203B41FA5}">
                      <a16:colId xmlns:a16="http://schemas.microsoft.com/office/drawing/2014/main" val="892877378"/>
                    </a:ext>
                  </a:extLst>
                </a:gridCol>
              </a:tblGrid>
              <a:tr h="762451"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1800">
                          <a:solidFill>
                            <a:schemeClr val="tx1"/>
                          </a:solidFill>
                          <a:effectLst/>
                        </a:rPr>
                        <a:t>Parameter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1800">
                          <a:solidFill>
                            <a:schemeClr val="tx1"/>
                          </a:solidFill>
                          <a:effectLst/>
                        </a:rPr>
                        <a:t>RCA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1800">
                          <a:solidFill>
                            <a:schemeClr val="tx1"/>
                          </a:solidFill>
                          <a:effectLst/>
                        </a:rPr>
                        <a:t>CLA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1800">
                          <a:solidFill>
                            <a:schemeClr val="tx1"/>
                          </a:solidFill>
                          <a:effectLst/>
                        </a:rPr>
                        <a:t>CSLA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53451101"/>
                  </a:ext>
                </a:extLst>
              </a:tr>
              <a:tr h="799050"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1800">
                          <a:solidFill>
                            <a:schemeClr val="tx1"/>
                          </a:solidFill>
                          <a:effectLst/>
                        </a:rPr>
                        <a:t>Delay (ns)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1800">
                          <a:effectLst/>
                        </a:rPr>
                        <a:t>13.343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1800">
                          <a:effectLst/>
                        </a:rPr>
                        <a:t>13.838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1800">
                          <a:effectLst/>
                        </a:rPr>
                        <a:t>10.825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20435142"/>
                  </a:ext>
                </a:extLst>
              </a:tr>
              <a:tr h="799050"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1800">
                          <a:solidFill>
                            <a:schemeClr val="tx1"/>
                          </a:solidFill>
                          <a:effectLst/>
                        </a:rPr>
                        <a:t>Logic power (W)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1800">
                          <a:effectLst/>
                        </a:rPr>
                        <a:t>0.113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1800">
                          <a:effectLst/>
                        </a:rPr>
                        <a:t>0.119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1800">
                          <a:effectLst/>
                        </a:rPr>
                        <a:t>0.161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48857242"/>
                  </a:ext>
                </a:extLst>
              </a:tr>
              <a:tr h="736089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solidFill>
                            <a:schemeClr val="tx1"/>
                          </a:solidFill>
                          <a:effectLst/>
                        </a:rPr>
                        <a:t>Utilization </a:t>
                      </a:r>
                      <a:r>
                        <a:rPr lang="en-IN" sz="1800" b="1" i="0" u="none" strike="noStrike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(LUTs)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1800">
                          <a:effectLst/>
                        </a:rPr>
                        <a:t>16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1800">
                          <a:effectLst/>
                        </a:rPr>
                        <a:t>16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1800">
                          <a:effectLst/>
                        </a:rPr>
                        <a:t>23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16326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2692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ABEA8-8305-1A40-B890-23506ED20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FIR Filter Structure Realizing Direct Form-1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8F689-40B6-4F4A-B699-1179C7666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63256-D9C6-0B4A-B442-E7E26DC51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146" name="Picture 2" descr="A black background with white circles and crosses&#10;&#10;AI-generated content may be incorrect.">
            <a:extLst>
              <a:ext uri="{FF2B5EF4-FFF2-40B4-BE49-F238E27FC236}">
                <a16:creationId xmlns:a16="http://schemas.microsoft.com/office/drawing/2014/main" id="{0474B0CF-4AEE-A49B-5DD5-A31CC4438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00" y="2341152"/>
            <a:ext cx="8377954" cy="2876431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22F892-2117-5A2A-D6BD-4CE3D70F9FF4}"/>
              </a:ext>
            </a:extLst>
          </p:cNvPr>
          <p:cNvSpPr/>
          <p:nvPr/>
        </p:nvSpPr>
        <p:spPr>
          <a:xfrm>
            <a:off x="509236" y="1516023"/>
            <a:ext cx="4686727" cy="52979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/>
              <a:t>Delay elements store past input samples so each tap multiplies the correct sample with its coefficient.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420151-4B04-C1B2-451D-C4955A27F38A}"/>
              </a:ext>
            </a:extLst>
          </p:cNvPr>
          <p:cNvSpPr/>
          <p:nvPr/>
        </p:nvSpPr>
        <p:spPr>
          <a:xfrm>
            <a:off x="4532602" y="2274460"/>
            <a:ext cx="797253" cy="529799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chemeClr val="bg1">
                <a:alpha val="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IN" sz="1600" b="1"/>
              <a:t>x(n-1)</a:t>
            </a:r>
            <a:endParaRPr lang="en-IN" sz="1600" b="1"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1850D1-E62A-B728-F612-2AD394AB781E}"/>
              </a:ext>
            </a:extLst>
          </p:cNvPr>
          <p:cNvSpPr/>
          <p:nvPr/>
        </p:nvSpPr>
        <p:spPr>
          <a:xfrm>
            <a:off x="5972967" y="2273518"/>
            <a:ext cx="797253" cy="529799"/>
          </a:xfrm>
          <a:prstGeom prst="rect">
            <a:avLst/>
          </a:prstGeom>
          <a:noFill/>
          <a:ln w="28575">
            <a:solidFill>
              <a:schemeClr val="bg1">
                <a:alpha val="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IN" sz="1600" b="1"/>
              <a:t>x(n-2)</a:t>
            </a:r>
            <a:endParaRPr lang="en-IN" sz="1600" b="1"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2DFA09-2F47-F603-8E93-BBCE173218D0}"/>
              </a:ext>
            </a:extLst>
          </p:cNvPr>
          <p:cNvSpPr/>
          <p:nvPr/>
        </p:nvSpPr>
        <p:spPr>
          <a:xfrm>
            <a:off x="7508029" y="2260661"/>
            <a:ext cx="797253" cy="52979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IN" sz="1600" b="1"/>
              <a:t>x(n-3)</a:t>
            </a:r>
            <a:endParaRPr lang="en-IN" sz="1600" b="1"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CD6B4C-9979-C70B-2BCC-F3540E22C601}"/>
              </a:ext>
            </a:extLst>
          </p:cNvPr>
          <p:cNvSpPr/>
          <p:nvPr/>
        </p:nvSpPr>
        <p:spPr>
          <a:xfrm>
            <a:off x="9007839" y="2262365"/>
            <a:ext cx="797253" cy="52979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IN" sz="1600" b="1"/>
              <a:t>x(n-4)</a:t>
            </a:r>
            <a:endParaRPr lang="en-IN" sz="1600" b="1">
              <a:ea typeface="Calibri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79D373-2CC2-5DAF-8C63-3F344C35B025}"/>
              </a:ext>
            </a:extLst>
          </p:cNvPr>
          <p:cNvSpPr/>
          <p:nvPr/>
        </p:nvSpPr>
        <p:spPr>
          <a:xfrm>
            <a:off x="1578846" y="4816282"/>
            <a:ext cx="1500040" cy="52979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/>
              <a:t>Multiplier unit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1CFC71-DB18-4645-F8DB-DB2BADA7192D}"/>
              </a:ext>
            </a:extLst>
          </p:cNvPr>
          <p:cNvCxnSpPr>
            <a:cxnSpLocks/>
          </p:cNvCxnSpPr>
          <p:nvPr/>
        </p:nvCxnSpPr>
        <p:spPr>
          <a:xfrm flipV="1">
            <a:off x="2478430" y="4094018"/>
            <a:ext cx="753143" cy="69760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8B1B2C-3AA5-DF2D-AFD7-CD8FCA5AB5E6}"/>
              </a:ext>
            </a:extLst>
          </p:cNvPr>
          <p:cNvCxnSpPr>
            <a:cxnSpLocks/>
          </p:cNvCxnSpPr>
          <p:nvPr/>
        </p:nvCxnSpPr>
        <p:spPr>
          <a:xfrm flipV="1">
            <a:off x="1693718" y="3666078"/>
            <a:ext cx="833107" cy="50067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B97B8D0-D43C-AC52-DC63-9BB356D8AB7A}"/>
              </a:ext>
            </a:extLst>
          </p:cNvPr>
          <p:cNvSpPr/>
          <p:nvPr/>
        </p:nvSpPr>
        <p:spPr>
          <a:xfrm>
            <a:off x="354158" y="4191418"/>
            <a:ext cx="1989189" cy="52979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/>
              <a:t>Multiplier coefficient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E74407-D639-A7AB-7529-DD6ECD72E0F0}"/>
              </a:ext>
            </a:extLst>
          </p:cNvPr>
          <p:cNvSpPr/>
          <p:nvPr/>
        </p:nvSpPr>
        <p:spPr>
          <a:xfrm>
            <a:off x="4472927" y="5512913"/>
            <a:ext cx="1500040" cy="52979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/>
              <a:t>Adder unit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A82287E-4C71-9E02-806E-9A0110398CE9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5061857" y="5014861"/>
            <a:ext cx="161090" cy="49805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6DA26B-F40C-CF9A-C394-ED16B0E7428D}"/>
              </a:ext>
            </a:extLst>
          </p:cNvPr>
          <p:cNvCxnSpPr>
            <a:cxnSpLocks/>
          </p:cNvCxnSpPr>
          <p:nvPr/>
        </p:nvCxnSpPr>
        <p:spPr>
          <a:xfrm>
            <a:off x="5222947" y="1820915"/>
            <a:ext cx="296110" cy="75380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18566F3-A206-28D1-193B-566FC41E44BF}"/>
              </a:ext>
            </a:extLst>
          </p:cNvPr>
          <p:cNvSpPr/>
          <p:nvPr/>
        </p:nvSpPr>
        <p:spPr>
          <a:xfrm>
            <a:off x="10404616" y="3568895"/>
            <a:ext cx="1305939" cy="52979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/>
              <a:t>Output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61647D-5F60-84DF-F629-2953FDEA8573}"/>
              </a:ext>
            </a:extLst>
          </p:cNvPr>
          <p:cNvCxnSpPr>
            <a:cxnSpLocks/>
          </p:cNvCxnSpPr>
          <p:nvPr/>
        </p:nvCxnSpPr>
        <p:spPr>
          <a:xfrm flipH="1">
            <a:off x="10172700" y="4166755"/>
            <a:ext cx="231916" cy="3844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8A9AA4A-FBE1-580E-DA21-98A96EF6CE82}"/>
              </a:ext>
            </a:extLst>
          </p:cNvPr>
          <p:cNvSpPr/>
          <p:nvPr/>
        </p:nvSpPr>
        <p:spPr>
          <a:xfrm>
            <a:off x="943697" y="2430449"/>
            <a:ext cx="1186335" cy="52979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/>
              <a:t>Input signal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8C5F728-CB0A-B3CF-79DB-0812F3A057F5}"/>
              </a:ext>
            </a:extLst>
          </p:cNvPr>
          <p:cNvCxnSpPr>
            <a:cxnSpLocks/>
          </p:cNvCxnSpPr>
          <p:nvPr/>
        </p:nvCxnSpPr>
        <p:spPr>
          <a:xfrm flipV="1">
            <a:off x="2134241" y="2695348"/>
            <a:ext cx="344189" cy="3301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500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48C35-AA49-2C48-B54C-447B88690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Simulation Result of FIR Filter Structure with RTL Schematic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9D939-5C07-094E-BAEC-88E04952F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pic>
        <p:nvPicPr>
          <p:cNvPr id="7" name="Content Placeholder 3" descr="A diagram of a computer program&#10;&#10;Description automatically generated with medium confidence">
            <a:extLst>
              <a:ext uri="{FF2B5EF4-FFF2-40B4-BE49-F238E27FC236}">
                <a16:creationId xmlns:a16="http://schemas.microsoft.com/office/drawing/2014/main" id="{1428F3CE-8812-8F45-B0EC-3054411DE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263" y="1417638"/>
            <a:ext cx="10072789" cy="486266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dk1">
                <a:alpha val="0"/>
              </a:schemeClr>
            </a:solidFill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F460A-D15A-F346-B771-93A42C0C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16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9A639E-C181-1941-998A-04F4C568E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4B689-4C6A-134B-A7F5-BA938B5E1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F0BFF3-4EE7-9343-91BA-05F342FD0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98422"/>
              </p:ext>
            </p:extLst>
          </p:nvPr>
        </p:nvGraphicFramePr>
        <p:xfrm>
          <a:off x="1788101" y="2142796"/>
          <a:ext cx="8893744" cy="23824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88494">
                  <a:extLst>
                    <a:ext uri="{9D8B030D-6E8A-4147-A177-3AD203B41FA5}">
                      <a16:colId xmlns:a16="http://schemas.microsoft.com/office/drawing/2014/main" val="4225057653"/>
                    </a:ext>
                  </a:extLst>
                </a:gridCol>
                <a:gridCol w="1848081">
                  <a:extLst>
                    <a:ext uri="{9D8B030D-6E8A-4147-A177-3AD203B41FA5}">
                      <a16:colId xmlns:a16="http://schemas.microsoft.com/office/drawing/2014/main" val="3054956930"/>
                    </a:ext>
                  </a:extLst>
                </a:gridCol>
                <a:gridCol w="1977422">
                  <a:extLst>
                    <a:ext uri="{9D8B030D-6E8A-4147-A177-3AD203B41FA5}">
                      <a16:colId xmlns:a16="http://schemas.microsoft.com/office/drawing/2014/main" val="1627022417"/>
                    </a:ext>
                  </a:extLst>
                </a:gridCol>
                <a:gridCol w="1979747">
                  <a:extLst>
                    <a:ext uri="{9D8B030D-6E8A-4147-A177-3AD203B41FA5}">
                      <a16:colId xmlns:a16="http://schemas.microsoft.com/office/drawing/2014/main" val="3078701933"/>
                    </a:ext>
                  </a:extLst>
                </a:gridCol>
              </a:tblGrid>
              <a:tr h="397073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Parameter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Filter1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Filter2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Filter3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7713322"/>
                  </a:ext>
                </a:extLst>
              </a:tr>
              <a:tr h="397073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Adder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CLA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CLA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CLA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6356436"/>
                  </a:ext>
                </a:extLst>
              </a:tr>
              <a:tr h="397073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Multiplier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Radix 4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Radix 8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Radix 16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6965659"/>
                  </a:ext>
                </a:extLst>
              </a:tr>
              <a:tr h="397073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Delay (ns)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22.094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24.918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27.720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182480"/>
                  </a:ext>
                </a:extLst>
              </a:tr>
              <a:tr h="397073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Logic power (W)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3.266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5.255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8.847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1894310"/>
                  </a:ext>
                </a:extLst>
              </a:tr>
              <a:tr h="397073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(LUTs) Utilization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297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1088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</a:rPr>
                        <a:t>359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763579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DA03402-9F36-B6FB-245B-FB743ECE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86164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b="1"/>
              <a:t>Implemented performance comparison of FIR filter structure by using radix 4, 8 and 16 multiplier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923389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Simulation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03610"/>
            <a:ext cx="11582400" cy="4939991"/>
          </a:xfrm>
        </p:spPr>
        <p:txBody>
          <a:bodyPr>
            <a:noAutofit/>
          </a:bodyPr>
          <a:lstStyle/>
          <a:p>
            <a:endParaRPr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/>
              <a:t>ASIC Verification:</a:t>
            </a:r>
            <a:r>
              <a:rPr lang="en-IN"/>
              <a:t> Performed using Cadence Genus with a 180 nm standard cell library.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/>
              <a:t>FPGA Comparison:</a:t>
            </a:r>
            <a:r>
              <a:rPr lang="en-IN"/>
              <a:t> Implemented in Xilinx </a:t>
            </a:r>
            <a:r>
              <a:rPr lang="en-IN" err="1"/>
              <a:t>Vivado</a:t>
            </a:r>
            <a:r>
              <a:rPr lang="en-IN"/>
              <a:t> 2024.1 Version targeting an Artix-7 evaluation board.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/>
              <a:t>Evaluation Metrics:</a:t>
            </a:r>
            <a:r>
              <a:rPr lang="en-IN"/>
              <a:t> Area, power, delay, and utilization measured.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/>
              <a:t>Benchmarking:</a:t>
            </a:r>
            <a:r>
              <a:rPr lang="en-IN"/>
              <a:t> Results compared with previous multiplier designs of three 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03075-60A6-8924-396E-CF661F60D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Comparison Result of multipliers [4],[5],[6]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FB5947-714E-4DD6-0592-842AC0A7A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6E2A5-764E-8EEC-913A-01A03AAC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4CC9E8-AF37-1ADC-7B3F-9E6451228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56848"/>
              </p:ext>
            </p:extLst>
          </p:nvPr>
        </p:nvGraphicFramePr>
        <p:xfrm>
          <a:off x="1742315" y="3028994"/>
          <a:ext cx="8707369" cy="2027479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92959">
                  <a:extLst>
                    <a:ext uri="{9D8B030D-6E8A-4147-A177-3AD203B41FA5}">
                      <a16:colId xmlns:a16="http://schemas.microsoft.com/office/drawing/2014/main" val="2797973638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2407071445"/>
                    </a:ext>
                  </a:extLst>
                </a:gridCol>
                <a:gridCol w="1360364">
                  <a:extLst>
                    <a:ext uri="{9D8B030D-6E8A-4147-A177-3AD203B41FA5}">
                      <a16:colId xmlns:a16="http://schemas.microsoft.com/office/drawing/2014/main" val="3540422642"/>
                    </a:ext>
                  </a:extLst>
                </a:gridCol>
                <a:gridCol w="1491170">
                  <a:extLst>
                    <a:ext uri="{9D8B030D-6E8A-4147-A177-3AD203B41FA5}">
                      <a16:colId xmlns:a16="http://schemas.microsoft.com/office/drawing/2014/main" val="1650570267"/>
                    </a:ext>
                  </a:extLst>
                </a:gridCol>
                <a:gridCol w="2503036">
                  <a:extLst>
                    <a:ext uri="{9D8B030D-6E8A-4147-A177-3AD203B41FA5}">
                      <a16:colId xmlns:a16="http://schemas.microsoft.com/office/drawing/2014/main" val="3072579203"/>
                    </a:ext>
                  </a:extLst>
                </a:gridCol>
              </a:tblGrid>
              <a:tr h="48753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1">
                          <a:effectLst/>
                        </a:rPr>
                        <a:t>Parameter</a:t>
                      </a:r>
                      <a:r>
                        <a:rPr lang="en-IN" sz="2000" b="0">
                          <a:effectLst/>
                        </a:rPr>
                        <a:t>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1">
                          <a:effectLst/>
                        </a:rPr>
                        <a:t>Radix-4</a:t>
                      </a:r>
                      <a:r>
                        <a:rPr lang="en-IN" sz="2000" b="1" baseline="30000">
                          <a:effectLst/>
                        </a:rPr>
                        <a:t>[4]</a:t>
                      </a:r>
                      <a:r>
                        <a:rPr lang="en-IN" sz="2000" b="0">
                          <a:effectLst/>
                        </a:rPr>
                        <a:t>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1">
                          <a:effectLst/>
                        </a:rPr>
                        <a:t>Radix-8</a:t>
                      </a:r>
                      <a:r>
                        <a:rPr lang="en-IN" sz="2000" b="1" baseline="30000">
                          <a:effectLst/>
                        </a:rPr>
                        <a:t>[5]</a:t>
                      </a:r>
                      <a:r>
                        <a:rPr lang="en-IN" sz="2000" b="0" baseline="30000">
                          <a:effectLst/>
                        </a:rPr>
                        <a:t> </a:t>
                      </a:r>
                      <a:endParaRPr lang="en-IN" sz="2000" b="0" i="0" baseline="30000">
                        <a:effectLst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1">
                          <a:effectLst/>
                        </a:rPr>
                        <a:t>Radix-16</a:t>
                      </a:r>
                      <a:r>
                        <a:rPr lang="en-IN" sz="2000" b="1" baseline="30000">
                          <a:effectLst/>
                        </a:rPr>
                        <a:t>[6]</a:t>
                      </a:r>
                      <a:r>
                        <a:rPr lang="en-IN" sz="2000" b="0">
                          <a:effectLst/>
                        </a:rPr>
                        <a:t>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1">
                          <a:effectLst/>
                        </a:rPr>
                        <a:t>Proposed Design</a:t>
                      </a:r>
                      <a:r>
                        <a:rPr lang="en-IN" sz="2000" b="0">
                          <a:effectLst/>
                        </a:rPr>
                        <a:t>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833312"/>
                  </a:ext>
                </a:extLst>
              </a:tr>
              <a:tr h="45715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1">
                          <a:effectLst/>
                        </a:rPr>
                        <a:t>Delay (ns)</a:t>
                      </a:r>
                      <a:r>
                        <a:rPr lang="en-IN" sz="2000" b="0">
                          <a:effectLst/>
                        </a:rPr>
                        <a:t>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0">
                          <a:effectLst/>
                        </a:rPr>
                        <a:t>9.506 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0">
                          <a:effectLst/>
                        </a:rPr>
                        <a:t>16.814 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0">
                          <a:effectLst/>
                        </a:rPr>
                        <a:t>7.711 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0">
                          <a:effectLst/>
                        </a:rPr>
                        <a:t>9.134 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9865001"/>
                  </a:ext>
                </a:extLst>
              </a:tr>
              <a:tr h="59525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1">
                          <a:effectLst/>
                        </a:rPr>
                        <a:t>Logic power (W)</a:t>
                      </a:r>
                      <a:r>
                        <a:rPr lang="en-IN" sz="2000" b="0">
                          <a:effectLst/>
                        </a:rPr>
                        <a:t>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0">
                          <a:effectLst/>
                        </a:rPr>
                        <a:t>1.047 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0">
                          <a:effectLst/>
                        </a:rPr>
                        <a:t>1.506 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0">
                          <a:effectLst/>
                        </a:rPr>
                        <a:t>1.321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0">
                          <a:effectLst/>
                        </a:rPr>
                        <a:t>0.506 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533419"/>
                  </a:ext>
                </a:extLst>
              </a:tr>
              <a:tr h="48753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1">
                          <a:effectLst/>
                        </a:rPr>
                        <a:t>Utilization </a:t>
                      </a:r>
                      <a:r>
                        <a:rPr lang="en-IN" sz="2000" b="1">
                          <a:solidFill>
                            <a:schemeClr val="tx1"/>
                          </a:solidFill>
                          <a:effectLst/>
                        </a:rPr>
                        <a:t>(LUTs) </a:t>
                      </a:r>
                      <a:r>
                        <a:rPr lang="en-IN" sz="2000" b="0">
                          <a:effectLst/>
                        </a:rPr>
                        <a:t>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0">
                          <a:effectLst/>
                        </a:rPr>
                        <a:t>70 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0">
                          <a:effectLst/>
                        </a:rPr>
                        <a:t>144 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0">
                          <a:effectLst/>
                        </a:rPr>
                        <a:t>253 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052"/>
                        </a:lnSpc>
                        <a:buNone/>
                      </a:pPr>
                      <a:r>
                        <a:rPr lang="en-IN" sz="2000" b="0">
                          <a:effectLst/>
                        </a:rPr>
                        <a:t>70 </a:t>
                      </a:r>
                      <a:endParaRPr lang="en-IN" sz="2000" b="0" i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61115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0215319-FE1B-8842-590C-B1B20D5ACECD}"/>
              </a:ext>
            </a:extLst>
          </p:cNvPr>
          <p:cNvSpPr txBox="1"/>
          <p:nvPr/>
        </p:nvSpPr>
        <p:spPr>
          <a:xfrm>
            <a:off x="1356852" y="1417638"/>
            <a:ext cx="98420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>
                <a:latin typeface="+mn-lt"/>
              </a:rPr>
              <a:t>Here we have shown the implemented synthesis results of the targeted research paper which is compared with our proposed design.</a:t>
            </a:r>
          </a:p>
        </p:txBody>
      </p:sp>
    </p:spTree>
    <p:extLst>
      <p:ext uri="{BB962C8B-B14F-4D97-AF65-F5344CB8AC3E}">
        <p14:creationId xmlns:p14="http://schemas.microsoft.com/office/powerpoint/2010/main" val="1898028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078FF-23E1-854E-A4D7-9D7A02AD0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Results of Proposed Design Form EDA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02451-B59C-C244-A29A-DCE89B91D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54B6A-13DD-F842-A086-675E2F7B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2F32AF3-943A-D74A-8EA6-393B2653C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24897"/>
              </p:ext>
            </p:extLst>
          </p:nvPr>
        </p:nvGraphicFramePr>
        <p:xfrm>
          <a:off x="1227221" y="1884779"/>
          <a:ext cx="10072838" cy="2111477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59278">
                  <a:extLst>
                    <a:ext uri="{9D8B030D-6E8A-4147-A177-3AD203B41FA5}">
                      <a16:colId xmlns:a16="http://schemas.microsoft.com/office/drawing/2014/main" val="423126115"/>
                    </a:ext>
                  </a:extLst>
                </a:gridCol>
                <a:gridCol w="999838">
                  <a:extLst>
                    <a:ext uri="{9D8B030D-6E8A-4147-A177-3AD203B41FA5}">
                      <a16:colId xmlns:a16="http://schemas.microsoft.com/office/drawing/2014/main" val="2403361919"/>
                    </a:ext>
                  </a:extLst>
                </a:gridCol>
                <a:gridCol w="1183592">
                  <a:extLst>
                    <a:ext uri="{9D8B030D-6E8A-4147-A177-3AD203B41FA5}">
                      <a16:colId xmlns:a16="http://schemas.microsoft.com/office/drawing/2014/main" val="4126139010"/>
                    </a:ext>
                  </a:extLst>
                </a:gridCol>
                <a:gridCol w="751505">
                  <a:extLst>
                    <a:ext uri="{9D8B030D-6E8A-4147-A177-3AD203B41FA5}">
                      <a16:colId xmlns:a16="http://schemas.microsoft.com/office/drawing/2014/main" val="1601982128"/>
                    </a:ext>
                  </a:extLst>
                </a:gridCol>
                <a:gridCol w="1026334">
                  <a:extLst>
                    <a:ext uri="{9D8B030D-6E8A-4147-A177-3AD203B41FA5}">
                      <a16:colId xmlns:a16="http://schemas.microsoft.com/office/drawing/2014/main" val="4038881478"/>
                    </a:ext>
                  </a:extLst>
                </a:gridCol>
                <a:gridCol w="1087419">
                  <a:extLst>
                    <a:ext uri="{9D8B030D-6E8A-4147-A177-3AD203B41FA5}">
                      <a16:colId xmlns:a16="http://schemas.microsoft.com/office/drawing/2014/main" val="2417450728"/>
                    </a:ext>
                  </a:extLst>
                </a:gridCol>
                <a:gridCol w="703682">
                  <a:extLst>
                    <a:ext uri="{9D8B030D-6E8A-4147-A177-3AD203B41FA5}">
                      <a16:colId xmlns:a16="http://schemas.microsoft.com/office/drawing/2014/main" val="2363786576"/>
                    </a:ext>
                  </a:extLst>
                </a:gridCol>
                <a:gridCol w="1266313">
                  <a:extLst>
                    <a:ext uri="{9D8B030D-6E8A-4147-A177-3AD203B41FA5}">
                      <a16:colId xmlns:a16="http://schemas.microsoft.com/office/drawing/2014/main" val="1152346742"/>
                    </a:ext>
                  </a:extLst>
                </a:gridCol>
                <a:gridCol w="1075712">
                  <a:extLst>
                    <a:ext uri="{9D8B030D-6E8A-4147-A177-3AD203B41FA5}">
                      <a16:colId xmlns:a16="http://schemas.microsoft.com/office/drawing/2014/main" val="1662293460"/>
                    </a:ext>
                  </a:extLst>
                </a:gridCol>
                <a:gridCol w="719165">
                  <a:extLst>
                    <a:ext uri="{9D8B030D-6E8A-4147-A177-3AD203B41FA5}">
                      <a16:colId xmlns:a16="http://schemas.microsoft.com/office/drawing/2014/main" val="4051619030"/>
                    </a:ext>
                  </a:extLst>
                </a:gridCol>
              </a:tblGrid>
              <a:tr h="552590"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  <a:effectLst/>
                        </a:rPr>
                        <a:t>Parameter</a:t>
                      </a:r>
                      <a:endParaRPr lang="en-IN" sz="20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Radix 4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Radix 8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Radix 16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485036"/>
                  </a:ext>
                </a:extLst>
              </a:tr>
              <a:tr h="532075"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 Conv. design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Proposed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% Imp.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Conv. design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Proposed 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% Imp.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Conv. design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Proposed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% Imp.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2304052633"/>
                  </a:ext>
                </a:extLst>
              </a:tr>
              <a:tr h="309145"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chemeClr val="tx1"/>
                          </a:solidFill>
                          <a:effectLst/>
                        </a:rPr>
                        <a:t>Area(µm</a:t>
                      </a:r>
                      <a:r>
                        <a:rPr lang="en-IN" sz="1800" b="1" baseline="30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en-IN" sz="1800" b="1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IN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4877.95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4143.27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15.06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6016.92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5143.99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14.51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7824.46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8063.45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-2.43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2877183501"/>
                  </a:ext>
                </a:extLst>
              </a:tr>
              <a:tr h="391957"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chemeClr val="tx1"/>
                          </a:solidFill>
                          <a:effectLst/>
                        </a:rPr>
                        <a:t>Power(µW)</a:t>
                      </a:r>
                      <a:endParaRPr lang="en-IN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379.05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366.06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3.43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522.69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373.66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28.52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794.34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519.08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34.65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3993476452"/>
                  </a:ext>
                </a:extLst>
              </a:tr>
              <a:tr h="309145"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chemeClr val="tx1"/>
                          </a:solidFill>
                          <a:effectLst/>
                        </a:rPr>
                        <a:t>Delay(ns)</a:t>
                      </a:r>
                      <a:endParaRPr lang="en-IN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10.18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8.70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14.54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10.33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9.11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11.81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13.26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10.26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22.62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161155622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A275EBF-4F9A-C440-8009-2D49E2C9D48F}"/>
              </a:ext>
            </a:extLst>
          </p:cNvPr>
          <p:cNvSpPr txBox="1"/>
          <p:nvPr/>
        </p:nvSpPr>
        <p:spPr>
          <a:xfrm>
            <a:off x="385546" y="1226772"/>
            <a:ext cx="11319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>
                <a:latin typeface="+mn-lt"/>
              </a:rPr>
              <a:t>8-Bit multiplier Result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C5A285-BC12-2447-AE80-15BBE010EEFC}"/>
              </a:ext>
            </a:extLst>
          </p:cNvPr>
          <p:cNvSpPr txBox="1"/>
          <p:nvPr/>
        </p:nvSpPr>
        <p:spPr>
          <a:xfrm>
            <a:off x="1227222" y="4392653"/>
            <a:ext cx="100728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>
                <a:latin typeface="+mn-lt"/>
              </a:rPr>
              <a:t>8-bit Gains</a:t>
            </a:r>
            <a:r>
              <a:rPr lang="en-IN" sz="2800">
                <a:latin typeface="+mn-lt"/>
              </a:rPr>
              <a:t> :Up to 15% area cut, 35% power savings, and 22% faster delay; Radix-16 leads in power/delay.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841073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EDD50-C82C-4749-BAA5-78BB24BB8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E11AE-656E-5F4E-BC4D-636CDACFA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5AFB354-8E5D-644C-9CC5-961F82915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049394"/>
              </p:ext>
            </p:extLst>
          </p:nvPr>
        </p:nvGraphicFramePr>
        <p:xfrm>
          <a:off x="981156" y="1193559"/>
          <a:ext cx="10385659" cy="201439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87852">
                  <a:extLst>
                    <a:ext uri="{9D8B030D-6E8A-4147-A177-3AD203B41FA5}">
                      <a16:colId xmlns:a16="http://schemas.microsoft.com/office/drawing/2014/main" val="842753464"/>
                    </a:ext>
                  </a:extLst>
                </a:gridCol>
                <a:gridCol w="1125703">
                  <a:extLst>
                    <a:ext uri="{9D8B030D-6E8A-4147-A177-3AD203B41FA5}">
                      <a16:colId xmlns:a16="http://schemas.microsoft.com/office/drawing/2014/main" val="3371139762"/>
                    </a:ext>
                  </a:extLst>
                </a:gridCol>
                <a:gridCol w="1138167">
                  <a:extLst>
                    <a:ext uri="{9D8B030D-6E8A-4147-A177-3AD203B41FA5}">
                      <a16:colId xmlns:a16="http://schemas.microsoft.com/office/drawing/2014/main" val="4269713368"/>
                    </a:ext>
                  </a:extLst>
                </a:gridCol>
                <a:gridCol w="760396">
                  <a:extLst>
                    <a:ext uri="{9D8B030D-6E8A-4147-A177-3AD203B41FA5}">
                      <a16:colId xmlns:a16="http://schemas.microsoft.com/office/drawing/2014/main" val="2815938099"/>
                    </a:ext>
                  </a:extLst>
                </a:gridCol>
                <a:gridCol w="1174282">
                  <a:extLst>
                    <a:ext uri="{9D8B030D-6E8A-4147-A177-3AD203B41FA5}">
                      <a16:colId xmlns:a16="http://schemas.microsoft.com/office/drawing/2014/main" val="474963428"/>
                    </a:ext>
                  </a:extLst>
                </a:gridCol>
                <a:gridCol w="1212783">
                  <a:extLst>
                    <a:ext uri="{9D8B030D-6E8A-4147-A177-3AD203B41FA5}">
                      <a16:colId xmlns:a16="http://schemas.microsoft.com/office/drawing/2014/main" val="3697733970"/>
                    </a:ext>
                  </a:extLst>
                </a:gridCol>
                <a:gridCol w="693019">
                  <a:extLst>
                    <a:ext uri="{9D8B030D-6E8A-4147-A177-3AD203B41FA5}">
                      <a16:colId xmlns:a16="http://schemas.microsoft.com/office/drawing/2014/main" val="632101842"/>
                    </a:ext>
                  </a:extLst>
                </a:gridCol>
                <a:gridCol w="1145407">
                  <a:extLst>
                    <a:ext uri="{9D8B030D-6E8A-4147-A177-3AD203B41FA5}">
                      <a16:colId xmlns:a16="http://schemas.microsoft.com/office/drawing/2014/main" val="1536961118"/>
                    </a:ext>
                  </a:extLst>
                </a:gridCol>
                <a:gridCol w="1145406">
                  <a:extLst>
                    <a:ext uri="{9D8B030D-6E8A-4147-A177-3AD203B41FA5}">
                      <a16:colId xmlns:a16="http://schemas.microsoft.com/office/drawing/2014/main" val="3643436073"/>
                    </a:ext>
                  </a:extLst>
                </a:gridCol>
                <a:gridCol w="702644">
                  <a:extLst>
                    <a:ext uri="{9D8B030D-6E8A-4147-A177-3AD203B41FA5}">
                      <a16:colId xmlns:a16="http://schemas.microsoft.com/office/drawing/2014/main" val="1069689538"/>
                    </a:ext>
                  </a:extLst>
                </a:gridCol>
              </a:tblGrid>
              <a:tr h="346962">
                <a:tc>
                  <a:txBody>
                    <a:bodyPr/>
                    <a:lstStyle/>
                    <a:p>
                      <a:pPr algn="ctr">
                        <a:tabLst>
                          <a:tab pos="640080" algn="l"/>
                        </a:tabLst>
                      </a:pPr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Parameter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Radix 4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Radix 8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Radix 16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812213"/>
                  </a:ext>
                </a:extLst>
              </a:tr>
              <a:tr h="502589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Conv. design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Proposed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% Imp.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Conv. design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Proposed 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% Imp.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Conv. design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Proposed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% Imp.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2969387966"/>
                  </a:ext>
                </a:extLst>
              </a:tr>
              <a:tr h="378340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solidFill>
                            <a:schemeClr val="tx1"/>
                          </a:solidFill>
                          <a:effectLst/>
                        </a:rPr>
                        <a:t>Area(µm</a:t>
                      </a:r>
                      <a:r>
                        <a:rPr lang="en-IN" sz="1800" baseline="30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en-IN" sz="180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613977.49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253175.55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58.76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405094.28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260313.55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35.74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528143.90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359690.7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31.89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1779108200"/>
                  </a:ext>
                </a:extLst>
              </a:tr>
              <a:tr h="393487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solidFill>
                            <a:schemeClr val="tx1"/>
                          </a:solidFill>
                          <a:effectLst/>
                        </a:rPr>
                        <a:t>Power(mW)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67.57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80.85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-16.43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89.84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75.16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16.34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113.86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60.76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46.64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1969886141"/>
                  </a:ext>
                </a:extLst>
              </a:tr>
              <a:tr h="346962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solidFill>
                            <a:schemeClr val="tx1"/>
                          </a:solidFill>
                          <a:effectLst/>
                        </a:rPr>
                        <a:t>Delay (ns)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155.62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84.39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45.77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97.14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85.49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11.99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117.64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92.56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effectLst/>
                        </a:rPr>
                        <a:t>21.32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124442330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DB883F0-C35A-574A-8886-8A6D4AB329A2}"/>
              </a:ext>
            </a:extLst>
          </p:cNvPr>
          <p:cNvSpPr txBox="1"/>
          <p:nvPr/>
        </p:nvSpPr>
        <p:spPr>
          <a:xfrm>
            <a:off x="736333" y="650905"/>
            <a:ext cx="10934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>
                <a:latin typeface="+mn-lt"/>
              </a:rPr>
              <a:t>64-Bit multiplier Result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BF02AA-8455-7E41-B496-84F14A09D07A}"/>
              </a:ext>
            </a:extLst>
          </p:cNvPr>
          <p:cNvSpPr txBox="1"/>
          <p:nvPr/>
        </p:nvSpPr>
        <p:spPr>
          <a:xfrm>
            <a:off x="684429" y="3417672"/>
            <a:ext cx="1093429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>
                <a:latin typeface="+mn-lt"/>
              </a:rPr>
              <a:t>64-bit Gains</a:t>
            </a:r>
            <a:r>
              <a:rPr lang="en-IN" sz="2800">
                <a:latin typeface="+mn-lt"/>
              </a:rPr>
              <a:t> :Up to 59% area savings, 46% delay improvement, and Radix-16 achieves highest power cut (46%).</a:t>
            </a:r>
          </a:p>
          <a:p>
            <a:endParaRPr lang="en-IN" sz="280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>
                <a:latin typeface="+mn-lt"/>
              </a:rPr>
              <a:t>Key Insight</a:t>
            </a:r>
            <a:r>
              <a:rPr lang="en-IN" sz="2800">
                <a:latin typeface="+mn-lt"/>
              </a:rPr>
              <a:t> : Radix-4 best for area/delay, Radix-8 balanced, Radix-16 most power-efficient; CPPG scales well for larger designs.</a:t>
            </a:r>
          </a:p>
        </p:txBody>
      </p:sp>
    </p:spTree>
    <p:extLst>
      <p:ext uri="{BB962C8B-B14F-4D97-AF65-F5344CB8AC3E}">
        <p14:creationId xmlns:p14="http://schemas.microsoft.com/office/powerpoint/2010/main" val="2290962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C3D8-0CD8-9742-8FF9-D54E26A3A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579CC-F0B1-8D4F-81EF-C366D6BEE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6D681-E26F-DA47-B671-441FA631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E05C82-2F89-1B43-8871-3BD4064F8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2"/>
            <a:ext cx="10469078" cy="3896358"/>
          </a:xfrm>
        </p:spPr>
        <p:txBody>
          <a:bodyPr/>
          <a:lstStyle/>
          <a:p>
            <a:r>
              <a:rPr lang="en-IN" b="1"/>
              <a:t>Area &amp; Speed</a:t>
            </a:r>
            <a:r>
              <a:rPr lang="en-IN"/>
              <a:t> → Radix-4 is best for compact, fast designs.</a:t>
            </a:r>
          </a:p>
          <a:p>
            <a:r>
              <a:rPr lang="en-IN" b="1"/>
              <a:t>Balanced</a:t>
            </a:r>
            <a:r>
              <a:rPr lang="en-IN"/>
              <a:t> → Radix-8 offers a good trade-off between area, speed, and power.</a:t>
            </a:r>
          </a:p>
          <a:p>
            <a:r>
              <a:rPr lang="en-IN" b="1"/>
              <a:t>Low Power</a:t>
            </a:r>
            <a:r>
              <a:rPr lang="en-IN"/>
              <a:t> → Radix-16 suits energy-efficient applications.</a:t>
            </a:r>
          </a:p>
          <a:p>
            <a:r>
              <a:rPr lang="en-IN" b="1"/>
              <a:t>Scalable</a:t>
            </a:r>
            <a:r>
              <a:rPr lang="en-IN"/>
              <a:t> → CPPG improves parallelism and supports high-performance multiplier designs.</a:t>
            </a:r>
          </a:p>
          <a:p>
            <a:r>
              <a:rPr lang="en-IN"/>
              <a:t>For lower bit application such as 8-bit, 16-bit, 24-bit which is used in FIR filter or TWS the radix 4 is better to opt.</a:t>
            </a:r>
          </a:p>
        </p:txBody>
      </p:sp>
    </p:spTree>
    <p:extLst>
      <p:ext uri="{BB962C8B-B14F-4D97-AF65-F5344CB8AC3E}">
        <p14:creationId xmlns:p14="http://schemas.microsoft.com/office/powerpoint/2010/main" val="2706250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EF6E9-386E-6344-AB72-BBF41D2E2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83238-A34B-5349-9E92-01601710E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Using faster adders like </a:t>
            </a:r>
            <a:r>
              <a:rPr lang="en-IN" err="1"/>
              <a:t>Kogge</a:t>
            </a:r>
            <a:r>
              <a:rPr lang="en-IN"/>
              <a:t>-Stone or Brent-Kung to speed up partial product summation.</a:t>
            </a:r>
          </a:p>
          <a:p>
            <a:r>
              <a:rPr lang="en-IN"/>
              <a:t>Add pipelining to handle higher clock speeds.</a:t>
            </a:r>
          </a:p>
          <a:p>
            <a:r>
              <a:rPr lang="en-IN"/>
              <a:t>Try low-power approximate adders for energy-efficient designs.</a:t>
            </a:r>
          </a:p>
          <a:p>
            <a:r>
              <a:rPr lang="en-IN"/>
              <a:t>Improve encoding and conversion for higher-radix multipliers.</a:t>
            </a:r>
          </a:p>
          <a:p>
            <a:r>
              <a:rPr lang="en-IN"/>
              <a:t>Extend the design to multi-operand multipliers and larger FIR filters for better PPA.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C9E1B-C3C8-0B4B-8D1D-2DC1F033D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08804-27F5-084F-B353-9295FC1D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21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84E33-A3B1-B744-AC31-A4121E4A2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5AA5F-29F7-3F41-B8A6-69509B059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en-US"/>
              <a:t>David Money Harris, Sarah Harris, "Digital Design and Computer Architecture", Morgan Kaufmann publishers 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err="1"/>
              <a:t>Kundeti</a:t>
            </a:r>
            <a:r>
              <a:rPr lang="en-US"/>
              <a:t> Nagarjuna, R. Krishna, "Efficient Implementation of High-Speed Low Power Digital Fir Filter Architecture Design by Radix-4 Multiplier", International Journal of Science, Engineering and Technology 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/>
              <a:t>Naga Venkata Vijaya Krishna Boppana, Jeevani Kommareddy, </a:t>
            </a:r>
            <a:r>
              <a:rPr lang="en-US" err="1"/>
              <a:t>Saiyu</a:t>
            </a:r>
            <a:r>
              <a:rPr lang="en-US"/>
              <a:t> Ren, “Low-cost and High-performance 8×8 Booth Multiplier “, Circuits, Systems, and Signal Processing (2019) 38:4357–4368 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/>
              <a:t>Ahsan Rafiq, Maksim </a:t>
            </a:r>
            <a:r>
              <a:rPr lang="en-US" err="1"/>
              <a:t>Jenihhin</a:t>
            </a:r>
            <a:r>
              <a:rPr lang="en-US"/>
              <a:t>, "An optimized design of delay-and energy-efficient Booth multiplier" in e-Prime - Advances in Electrical Engineering, Electronics and Energy 9 (2024) 100698, ELSEVIER 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/>
              <a:t>Boppana, N.V.V.K., Ren, S.: Simple low power-delay-product parallel signed multiplier design using radix-8 structure with efficient partial product reduction. </a:t>
            </a:r>
            <a:r>
              <a:rPr lang="en-US" i="1"/>
              <a:t>J. Eng.</a:t>
            </a:r>
            <a:r>
              <a:rPr lang="en-US"/>
              <a:t> 2023, e12296 (2023). </a:t>
            </a:r>
            <a:r>
              <a:rPr lang="en-US" u="sng">
                <a:hlinkClick r:id="rId2"/>
              </a:rPr>
              <a:t>https://doi.org/10.1049/tje2.12296</a:t>
            </a:r>
            <a:r>
              <a:rPr lang="en-US"/>
              <a:t> 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/>
              <a:t>Serap </a:t>
            </a:r>
            <a:r>
              <a:rPr lang="en-US" err="1"/>
              <a:t>Ceklia</a:t>
            </a:r>
            <a:r>
              <a:rPr lang="en-US"/>
              <a:t>, *, Ali </a:t>
            </a:r>
            <a:r>
              <a:rPr lang="en-US" err="1"/>
              <a:t>Akmanb</a:t>
            </a:r>
            <a:r>
              <a:rPr lang="en-US"/>
              <a:t>,” A high speed pipelined radix-16 Booth multiplier architecture for FPGA implementation”</a:t>
            </a:r>
            <a:r>
              <a:rPr lang="en-US" i="1"/>
              <a:t> AEUE - International Journal of Electronics and Communications 185 (2024) 155435 </a:t>
            </a:r>
            <a:r>
              <a:rPr lang="en-US"/>
              <a:t> 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/>
              <a:t>Lad Ketan </a:t>
            </a:r>
            <a:r>
              <a:rPr lang="en-US" err="1"/>
              <a:t>Khandubhai</a:t>
            </a:r>
            <a:r>
              <a:rPr lang="en-US"/>
              <a:t>, "A High-Performance FIR filter using Logarithmic Number System”. 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/>
              <a:t>Kher Divya, "Comparatively Analysis of Approximate Multiplier for Signal Processing Application” 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/>
              <a:t>Gandhi </a:t>
            </a:r>
            <a:r>
              <a:rPr lang="en-US" err="1"/>
              <a:t>Dhavalkumar</a:t>
            </a:r>
            <a:r>
              <a:rPr lang="en-US"/>
              <a:t> </a:t>
            </a:r>
            <a:r>
              <a:rPr lang="en-US" err="1"/>
              <a:t>Rameshchandra</a:t>
            </a:r>
            <a:r>
              <a:rPr lang="en-US"/>
              <a:t>, "Low Power High Performance Multiplier” 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/>
              <a:t>References for TWS </a:t>
            </a:r>
          </a:p>
          <a:p>
            <a:pPr marL="0" indent="0" fontAlgn="base">
              <a:buNone/>
            </a:pPr>
            <a:r>
              <a:rPr lang="en-US" u="sng">
                <a:hlinkClick r:id="rId3"/>
              </a:rPr>
              <a:t>https://www.qualcomm.com/products/features/truewireless</a:t>
            </a:r>
            <a:r>
              <a:rPr lang="en-US"/>
              <a:t> </a:t>
            </a:r>
          </a:p>
          <a:p>
            <a:pPr marL="0" indent="0" fontAlgn="base">
              <a:buNone/>
            </a:pPr>
            <a:r>
              <a:rPr lang="en-US" u="sng">
                <a:hlinkClick r:id="rId4"/>
              </a:rPr>
              <a:t>https://www.silergy.com/use/True+Wireless+Stereo+%28TWS%29</a:t>
            </a:r>
            <a:r>
              <a:rPr lang="en-US"/>
              <a:t> </a:t>
            </a:r>
          </a:p>
          <a:p>
            <a:pPr marL="0" indent="0" fontAlgn="base">
              <a:buNone/>
            </a:pPr>
            <a:r>
              <a:rPr lang="en-US" u="sng">
                <a:hlinkClick r:id="rId5"/>
              </a:rPr>
              <a:t>https://www.embedded.com/case-study-optimizing-ppa-with-risc-v-custom-extensions-in-tws-earbuds/</a:t>
            </a:r>
            <a:r>
              <a:rPr lang="en-US"/>
              <a:t> 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56D88-D50E-1844-B2D1-89AA38F70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19C7C-6444-B14D-A5FD-6D70413B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36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409524" y="4105236"/>
            <a:ext cx="7372952" cy="1258270"/>
          </a:xfrm>
        </p:spPr>
        <p:txBody>
          <a:bodyPr/>
          <a:lstStyle/>
          <a:p>
            <a:pPr fontAlgn="auto">
              <a:spcAft>
                <a:spcPts val="0"/>
              </a:spcAft>
            </a:pPr>
            <a:r>
              <a:rPr lang="en-US" sz="4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algun Gothic" panose="020B0503020000020004" pitchFamily="34" charset="-127"/>
                <a:ea typeface="Malgun Gothic" panose="020B0503020000020004" pitchFamily="34" charset="-127"/>
              </a:rPr>
              <a:t>Questions &amp; Comments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65BF1-693B-9C40-ABA0-C20B06CAD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896" y="1151212"/>
            <a:ext cx="3219450" cy="32194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C529A4D857314092F8987294A43FD3" ma:contentTypeVersion="0" ma:contentTypeDescription="Create a new document." ma:contentTypeScope="" ma:versionID="b3a40a446e339e50bd650e277a113f3f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A855BF4-2A99-441B-9566-850307E4F0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71F2A1-2ACF-4A95-B48F-47B38B7131BE}">
  <ds:schemaRefs>
    <ds:schemaRef ds:uri="http://purl.org/dc/elements/1.1/"/>
    <ds:schemaRef ds:uri="http://purl.org/dc/terms/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ternal/2005/internalDocumentation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91CAD78-C6F6-407D-A9D5-329355F07703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6f75f480-7803-4ee9-bb54-84d0635fdbe7}" enabled="1" method="Privilege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1802</Words>
  <Application>Microsoft Macintosh PowerPoint</Application>
  <PresentationFormat>Widescreen</PresentationFormat>
  <Paragraphs>379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Malgun Gothic</vt:lpstr>
      <vt:lpstr>Arial</vt:lpstr>
      <vt:lpstr>Calibri</vt:lpstr>
      <vt:lpstr>Times New Roman</vt:lpstr>
      <vt:lpstr>Office Theme</vt:lpstr>
      <vt:lpstr>Efficient Booth Multiplier for FIR Filter Structure</vt:lpstr>
      <vt:lpstr>Agenda</vt:lpstr>
      <vt:lpstr>Introduction</vt:lpstr>
      <vt:lpstr>Motivation</vt:lpstr>
      <vt:lpstr>Fundamentals of Booth’s Algorithm</vt:lpstr>
      <vt:lpstr>Booth Multiplier </vt:lpstr>
      <vt:lpstr>Comparison of Multiplier [4], [5], [6] </vt:lpstr>
      <vt:lpstr>Conventional Booth Multiplier</vt:lpstr>
      <vt:lpstr>Partial product generation</vt:lpstr>
      <vt:lpstr>Why Bit Append Compared to Shift operation</vt:lpstr>
      <vt:lpstr>Proposed Booth Multiplier </vt:lpstr>
      <vt:lpstr>Centralized partial product generation</vt:lpstr>
      <vt:lpstr>Comparison of adders</vt:lpstr>
      <vt:lpstr>Adder Results of Xilinx Vivado</vt:lpstr>
      <vt:lpstr>FIR Filter Structure Realizing Direct Form-1</vt:lpstr>
      <vt:lpstr>Simulation Result of FIR Filter Structure with RTL Schematic</vt:lpstr>
      <vt:lpstr>Implemented performance comparison of FIR filter structure by using radix 4, 8 and 16 multiplier</vt:lpstr>
      <vt:lpstr>Simulation Methodology</vt:lpstr>
      <vt:lpstr>Comparison Result of multipliers [4],[5],[6]</vt:lpstr>
      <vt:lpstr>Results of Proposed Design Form EDA</vt:lpstr>
      <vt:lpstr>PowerPoint Presentation</vt:lpstr>
      <vt:lpstr>Conclusion</vt:lpstr>
      <vt:lpstr>Future Work</vt:lpstr>
      <vt:lpstr>References</vt:lpstr>
      <vt:lpstr>Questions &amp; Comments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revision>1</cp:revision>
  <dcterms:created xsi:type="dcterms:W3CDTF">2011-11-23T07:37:04Z</dcterms:created>
  <dcterms:modified xsi:type="dcterms:W3CDTF">2025-10-01T19:58:53Z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0x0101004AC529A4D857314092F8987294A43FD3</vt:lpwstr>
  </property>
  <property fmtid="{D5CDD505-2E9C-101B-9397-08002B2CF9AE}" pid="3" name="MSIP_Label_6f75f480-7803-4ee9-bb54-84d0635fdbe7_Enabled">
    <vt:lpwstr>true</vt:lpwstr>
  </property>
  <property fmtid="{D5CDD505-2E9C-101B-9397-08002B2CF9AE}" pid="4" name="MSIP_Label_6f75f480-7803-4ee9-bb54-84d0635fdbe7_SetDate">
    <vt:lpwstr>2022-12-15T10:58:23Z</vt:lpwstr>
  </property>
  <property fmtid="{D5CDD505-2E9C-101B-9397-08002B2CF9AE}" pid="5" name="MSIP_Label_6f75f480-7803-4ee9-bb54-84d0635fdbe7_Method">
    <vt:lpwstr>Privileged</vt:lpwstr>
  </property>
  <property fmtid="{D5CDD505-2E9C-101B-9397-08002B2CF9AE}" pid="6" name="MSIP_Label_6f75f480-7803-4ee9-bb54-84d0635fdbe7_Name">
    <vt:lpwstr>unrestricted</vt:lpwstr>
  </property>
  <property fmtid="{D5CDD505-2E9C-101B-9397-08002B2CF9AE}" pid="7" name="MSIP_Label_6f75f480-7803-4ee9-bb54-84d0635fdbe7_SiteId">
    <vt:lpwstr>38ae3bcd-9579-4fd4-adda-b42e1495d55a</vt:lpwstr>
  </property>
  <property fmtid="{D5CDD505-2E9C-101B-9397-08002B2CF9AE}" pid="8" name="MSIP_Label_6f75f480-7803-4ee9-bb54-84d0635fdbe7_ActionId">
    <vt:lpwstr>38c0abd5-c799-45e9-985a-ca31d84c522b</vt:lpwstr>
  </property>
  <property fmtid="{D5CDD505-2E9C-101B-9397-08002B2CF9AE}" pid="9" name="MSIP_Label_6f75f480-7803-4ee9-bb54-84d0635fdbe7_ContentBits">
    <vt:lpwstr>0</vt:lpwstr>
  </property>
  <property fmtid="{D5CDD505-2E9C-101B-9397-08002B2CF9AE}" pid="10" name="Document_Confidentiality">
    <vt:lpwstr>Unrestricted</vt:lpwstr>
  </property>
</Properties>
</file>